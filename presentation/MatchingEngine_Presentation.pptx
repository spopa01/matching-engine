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latin typeface="Arial"/>
              </a:rPr>
              <a:t>Matching Engine with Instrumentation &amp; RAG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Calibri"/>
              </a:rPr>
              <a:t>High-Performance Order Matching with AI-Powered Query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High-performance order matching engine in Java 17</a:t>
            </a:r>
          </a:p>
          <a:p>
            <a:pPr>
              <a:defRPr sz="1800">
                <a:latin typeface="Calibri"/>
              </a:defRPr>
            </a:pPr>
            <a:r>
              <a:t>Price-time priority (FIFO) matching algorithm</a:t>
            </a:r>
          </a:p>
          <a:p>
            <a:pPr>
              <a:defRPr sz="1800">
                <a:latin typeface="Calibri"/>
              </a:defRPr>
            </a:pPr>
            <a:r>
              <a:t>Support for LIMIT and MARKET orders with partial fills</a:t>
            </a:r>
          </a:p>
          <a:p>
            <a:pPr>
              <a:defRPr sz="1800">
                <a:latin typeface="Calibri"/>
              </a:defRPr>
            </a:pPr>
            <a:r>
              <a:t>Bytecode instrumentation using Byte Buddy for execution tracing</a:t>
            </a:r>
          </a:p>
          <a:p>
            <a:pPr>
              <a:defRPr sz="1800">
                <a:latin typeface="Calibri"/>
              </a:defRPr>
            </a:pPr>
            <a:r>
              <a:t>RAG pipeline for querying execution logs and source code</a:t>
            </a:r>
          </a:p>
          <a:p>
            <a:pPr>
              <a:defRPr sz="1800">
                <a:latin typeface="Calibri"/>
              </a:defRPr>
            </a:pPr>
            <a:r>
              <a:t>AI-powered analysis using LlamaIndex and Claude Opus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Core Matching Engine: Java-based order book with TreeMap</a:t>
            </a:r>
          </a:p>
          <a:p>
            <a:pPr>
              <a:defRPr sz="1800">
                <a:latin typeface="Calibri"/>
              </a:defRPr>
            </a:pPr>
            <a:r>
              <a:t>Java Agent: Byte Buddy instrumentation for runtime tracing</a:t>
            </a:r>
          </a:p>
          <a:p>
            <a:pPr>
              <a:defRPr sz="1800">
                <a:latin typeface="Calibri"/>
              </a:defRPr>
            </a:pPr>
            <a:r>
              <a:t>Annotation System: @FunctionMetadata for function identification</a:t>
            </a:r>
          </a:p>
          <a:p>
            <a:pPr>
              <a:defRPr sz="1800">
                <a:latin typeface="Calibri"/>
              </a:defRPr>
            </a:pPr>
            <a:r>
              <a:t>CSV I/O: Order input and execution report output</a:t>
            </a:r>
          </a:p>
          <a:p>
            <a:pPr>
              <a:defRPr sz="1800">
                <a:latin typeface="Calibri"/>
              </a:defRPr>
            </a:pPr>
            <a:r>
              <a:t>Instrumentation Log: Detailed execution traces with events</a:t>
            </a:r>
          </a:p>
          <a:p>
            <a:pPr>
              <a:defRPr sz="1800">
                <a:latin typeface="Calibri"/>
              </a:defRPr>
            </a:pPr>
            <a:r>
              <a:t>RAG Pipeline: LlamaIndex + Claude for semantic search and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Matching Engine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OrderBook: TreeMap-based data structure</a:t>
            </a:r>
          </a:p>
          <a:p>
            <a:pPr>
              <a:defRPr sz="1800">
                <a:latin typeface="Calibri"/>
              </a:defRPr>
            </a:pPr>
            <a:r>
              <a:t>  - Buy side: Descending order (highest price first)</a:t>
            </a:r>
          </a:p>
          <a:p>
            <a:pPr>
              <a:defRPr sz="1800">
                <a:latin typeface="Calibri"/>
              </a:defRPr>
            </a:pPr>
            <a:r>
              <a:t>  - Sell side: Ascending order (lowest price first)</a:t>
            </a:r>
          </a:p>
          <a:p>
            <a:pPr>
              <a:defRPr sz="1800">
                <a:latin typeface="Calibri"/>
              </a:defRPr>
            </a:pPr>
            <a:r>
              <a:t>  - FIFO within each price level (LinkedList)</a:t>
            </a:r>
          </a:p>
          <a:p>
            <a:pPr>
              <a:defRPr sz="1800">
                <a:latin typeface="Calibri"/>
              </a:defRPr>
            </a:pPr>
            <a:r>
              <a:t>MatchingEngine: Executes price-time priority matching</a:t>
            </a:r>
          </a:p>
          <a:p>
            <a:pPr>
              <a:defRPr sz="1800">
                <a:latin typeface="Calibri"/>
              </a:defRPr>
            </a:pPr>
            <a:r>
              <a:t>ExecutionReport: Tracks fills with cumulative quantities</a:t>
            </a:r>
          </a:p>
          <a:p>
            <a:pPr>
              <a:defRPr sz="1800">
                <a:latin typeface="Calibri"/>
              </a:defRPr>
            </a:pPr>
            <a:r>
              <a:t>Supports full fills, partial fills, and order cancellations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Annotation System: @FunctionMetadata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@FunctionMetadata Annotation: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@Retention(RetentionPolicy.RUNTIME)</a:t>
            </a:r>
          </a:p>
          <a:p>
            <a:pPr>
              <a:defRPr sz="1100">
                <a:latin typeface="Courier New"/>
              </a:defRPr>
            </a:pPr>
            <a:r>
              <a:t>@Target(ElementType.METHOD)</a:t>
            </a:r>
          </a:p>
          <a:p>
            <a:pPr>
              <a:defRPr sz="1100">
                <a:latin typeface="Courier New"/>
              </a:defRPr>
            </a:pPr>
            <a:r>
              <a:t>public @interface FunctionMetadata {</a:t>
            </a:r>
          </a:p>
          <a:p>
            <a:pPr>
              <a:defRPr sz="1100">
                <a:latin typeface="Courier New"/>
              </a:defRPr>
            </a:pPr>
            <a:r>
              <a:t>    String uuid();</a:t>
            </a:r>
          </a:p>
          <a:p>
            <a:pPr>
              <a:defRPr sz="1100">
                <a:latin typeface="Courier New"/>
              </a:defRPr>
            </a:pPr>
            <a:r>
              <a:t>    String functionName();</a:t>
            </a:r>
          </a:p>
          <a:p>
            <a:pPr>
              <a:defRPr sz="1100">
                <a:latin typeface="Courier New"/>
              </a:defRPr>
            </a:pPr>
            <a:r>
              <a:t>    String description();</a:t>
            </a:r>
          </a:p>
          <a:p>
            <a:pPr>
              <a:defRPr sz="1100">
                <a:latin typeface="Courier New"/>
              </a:defRPr>
            </a:pPr>
            <a:r>
              <a:t>}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Example Usage: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@FunctionMetadata(</a:t>
            </a:r>
          </a:p>
          <a:p>
            <a:pPr>
              <a:defRPr sz="1100">
                <a:latin typeface="Courier New"/>
              </a:defRPr>
            </a:pPr>
            <a:r>
              <a:t>    uuid = "8KGyw9TlT1prfI2eDxorPA",</a:t>
            </a:r>
          </a:p>
          <a:p>
            <a:pPr>
              <a:defRPr sz="1100">
                <a:latin typeface="Courier New"/>
              </a:defRPr>
            </a:pPr>
            <a:r>
              <a:t>    functionName = "addOrder",</a:t>
            </a:r>
          </a:p>
          <a:p>
            <a:pPr>
              <a:defRPr sz="1100">
                <a:latin typeface="Courier New"/>
              </a:defRPr>
            </a:pPr>
            <a:r>
              <a:t>    description = "Main entry point for processing incoming orders..."</a:t>
            </a:r>
          </a:p>
          <a:p>
            <a:pPr>
              <a:defRPr sz="1100">
                <a:latin typeface="Courier New"/>
              </a:defRPr>
            </a:pPr>
            <a:r>
              <a:t>)</a:t>
            </a:r>
          </a:p>
          <a:p>
            <a:pPr>
              <a:defRPr sz="1100">
                <a:latin typeface="Courier New"/>
              </a:defRPr>
            </a:pPr>
            <a:r>
              <a:t>public List&lt;ExecutionReport&gt; addOrder(Order order) {</a:t>
            </a:r>
          </a:p>
          <a:p>
            <a:pPr>
              <a:defRPr sz="1100">
                <a:latin typeface="Courier New"/>
              </a:defRPr>
            </a:pPr>
            <a:r>
              <a:t>    // Matching logic</a:t>
            </a:r>
          </a:p>
          <a:p>
            <a:pPr>
              <a:defRPr sz="1100">
                <a:latin typeface="Courier New"/>
              </a:defRPr>
            </a:pPr>
            <a:r>
              <a:t>}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Benefits:</a:t>
            </a:r>
          </a:p>
          <a:p>
            <a:pPr>
              <a:defRPr sz="1100">
                <a:latin typeface="Courier New"/>
              </a:defRPr>
            </a:pPr>
            <a:r>
              <a:t>- Unique UUID identification for each function</a:t>
            </a:r>
          </a:p>
          <a:p>
            <a:pPr>
              <a:defRPr sz="1100">
                <a:latin typeface="Courier New"/>
              </a:defRPr>
            </a:pPr>
            <a:r>
              <a:t>- Runtime introspection for instrumentation</a:t>
            </a:r>
          </a:p>
          <a:p>
            <a:pPr>
              <a:defRPr sz="1100">
                <a:latin typeface="Courier New"/>
              </a:defRPr>
            </a:pPr>
            <a:r>
              <a:t>- Self-documenting code with descriptions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Instrumentation with Byte Buddy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Java Agent intercepts method calls at runtime</a:t>
            </a:r>
          </a:p>
          <a:p>
            <a:pPr>
              <a:defRPr sz="1800">
                <a:latin typeface="Calibri"/>
              </a:defRPr>
            </a:pPr>
            <a:r>
              <a:t>Uses Byte Buddy for bytecode manipulation</a:t>
            </a:r>
          </a:p>
          <a:p>
            <a:pPr>
              <a:defRPr sz="1800">
                <a:latin typeface="Calibri"/>
              </a:defRPr>
            </a:pPr>
            <a:r>
              <a:t>Captures execution events without modifying source code</a:t>
            </a:r>
          </a:p>
          <a:p>
            <a:pPr>
              <a:defRPr sz="1800">
                <a:latin typeface="Calibri"/>
              </a:defRPr>
            </a:pPr>
            <a:r>
              <a:t>@Advice.Local for context passing between enter/exit advice</a:t>
            </a:r>
          </a:p>
          <a:p>
            <a:pPr>
              <a:defRPr sz="1800">
                <a:latin typeface="Calibri"/>
              </a:defRPr>
            </a:pPr>
            <a:r>
              <a:t>SPSC lock-free ring buffer with VarHandle release/acquire</a:t>
            </a:r>
          </a:p>
          <a:p>
            <a:pPr>
              <a:defRPr sz="1800">
                <a:latin typeface="Calibri"/>
              </a:defRPr>
            </a:pPr>
            <a:r>
              <a:t>Async drain-thread writes events and reconstructs book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Instrumentation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Event Types Captured: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1. ORDER_IN - Incoming order details</a:t>
            </a:r>
          </a:p>
          <a:p>
            <a:pPr>
              <a:defRPr sz="1100">
                <a:latin typeface="Courier New"/>
              </a:defRPr>
            </a:pPr>
            <a:r>
              <a:t>   Format: orderId | side | orderType | qty | price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2. CALL - Function invocation with UUID</a:t>
            </a:r>
          </a:p>
          <a:p>
            <a:pPr>
              <a:defRPr sz="1100">
                <a:latin typeface="Courier New"/>
              </a:defRPr>
            </a:pPr>
            <a:r>
              <a:t>   Format: functionUuid (from @FunctionMetadata)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3. EXEC_REPORT - Trade execution details</a:t>
            </a:r>
          </a:p>
          <a:p>
            <a:pPr>
              <a:defRPr sz="1100">
                <a:latin typeface="Courier New"/>
              </a:defRPr>
            </a:pPr>
            <a:r>
              <a:t>   Format: orderId | side | executionType | qty | lastQty | cumQty | price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4. BOOK_ADD - Order added to book</a:t>
            </a:r>
          </a:p>
          <a:p>
            <a:pPr>
              <a:defRPr sz="1100">
                <a:latin typeface="Courier New"/>
              </a:defRPr>
            </a:pPr>
            <a:r>
              <a:t>   Format: orderId | side | price | remainingQty | cumQty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5. SNAPSHOT - Order book state</a:t>
            </a:r>
          </a:p>
          <a:p>
            <a:pPr>
              <a:defRPr sz="1100">
                <a:latin typeface="Courier New"/>
              </a:defRPr>
            </a:pPr>
            <a:r>
              <a:t>   Format: Buy: [price@orderId:qty, ...] Sell: [price@orderId:qty, ...]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Example Log Entry:</a:t>
            </a:r>
          </a:p>
          <a:p>
            <a:pPr>
              <a:defRPr sz="1100">
                <a:latin typeface="Courier New"/>
              </a:defRPr>
            </a:pPr>
            <a:r>
              <a:t>2025-02-15T10:30:15.123Z | VQ6EAOKbQdSnFkRmVUQAAA | ORDER_IN |</a:t>
            </a:r>
          </a:p>
          <a:p>
            <a:pPr>
              <a:defRPr sz="1100">
                <a:latin typeface="Courier New"/>
              </a:defRPr>
            </a:pPr>
            <a:r>
              <a:t>  VQ6EAOKbQdSnFkRmVUQAAA | BUY | LIMIT | qty=10 | price=100.50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RAG Pipeline: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Dual-Index System:</a:t>
            </a:r>
          </a:p>
          <a:p>
            <a:pPr>
              <a:defRPr sz="1800">
                <a:latin typeface="Calibri"/>
              </a:defRPr>
            </a:pPr>
            <a:r>
              <a:t>  1. Instrumentation Log Index - Execution traces</a:t>
            </a:r>
          </a:p>
          <a:p>
            <a:pPr>
              <a:defRPr sz="1800">
                <a:latin typeface="Calibri"/>
              </a:defRPr>
            </a:pPr>
            <a:r>
              <a:t>  2. Source Code Index - Java implementation files</a:t>
            </a:r>
          </a:p>
          <a:p>
            <a:pPr>
              <a:defRPr sz="1800">
                <a:latin typeface="Calibri"/>
              </a:defRPr>
            </a:pPr>
            <a:r>
              <a:t>LlamaIndex: RAG framework for indexing and retrieval</a:t>
            </a:r>
          </a:p>
          <a:p>
            <a:pPr>
              <a:defRPr sz="1800">
                <a:latin typeface="Calibri"/>
              </a:defRPr>
            </a:pPr>
            <a:r>
              <a:t>OpenAI Embeddings: text-embedding-3-small for vector search</a:t>
            </a:r>
          </a:p>
          <a:p>
            <a:pPr>
              <a:defRPr sz="1800">
                <a:latin typeface="Calibri"/>
              </a:defRPr>
            </a:pPr>
            <a:r>
              <a:t>Claude Opus 4: Anthropic's LLM for query answering</a:t>
            </a:r>
          </a:p>
          <a:p>
            <a:pPr>
              <a:defRPr sz="1800">
                <a:latin typeface="Calibri"/>
              </a:defRPr>
            </a:pPr>
            <a:r>
              <a:t>Three Query Modes: /instr, /code, /both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RAG Pipeline: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RAG Pipeline Components: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class MatchingEngineRAG:</a:t>
            </a:r>
          </a:p>
          <a:p>
            <a:pPr>
              <a:defRPr sz="1100">
                <a:latin typeface="Courier New"/>
              </a:defRPr>
            </a:pPr>
            <a:r>
              <a:t>    def __init__(self):</a:t>
            </a:r>
          </a:p>
          <a:p>
            <a:pPr>
              <a:defRPr sz="1100">
                <a:latin typeface="Courier New"/>
              </a:defRPr>
            </a:pPr>
            <a:r>
              <a:t>        # LLM: Claude Opus 4</a:t>
            </a:r>
          </a:p>
          <a:p>
            <a:pPr>
              <a:defRPr sz="1100">
                <a:latin typeface="Courier New"/>
              </a:defRPr>
            </a:pPr>
            <a:r>
              <a:t>        Settings.llm = Anthropic(</a:t>
            </a:r>
          </a:p>
          <a:p>
            <a:pPr>
              <a:defRPr sz="1100">
                <a:latin typeface="Courier New"/>
              </a:defRPr>
            </a:pPr>
            <a:r>
              <a:t>            model="claude-opus-4-20250514",</a:t>
            </a:r>
          </a:p>
          <a:p>
            <a:pPr>
              <a:defRPr sz="1100">
                <a:latin typeface="Courier New"/>
              </a:defRPr>
            </a:pPr>
            <a:r>
              <a:t>            temperature=0.1</a:t>
            </a:r>
          </a:p>
          <a:p>
            <a:pPr>
              <a:defRPr sz="1100">
                <a:latin typeface="Courier New"/>
              </a:defRPr>
            </a:pPr>
            <a:r>
              <a:t>        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Embeddings: OpenAI</a:t>
            </a:r>
          </a:p>
          <a:p>
            <a:pPr>
              <a:defRPr sz="1100">
                <a:latin typeface="Courier New"/>
              </a:defRPr>
            </a:pPr>
            <a:r>
              <a:t>        Settings.embed_model = OpenAIEmbedding(</a:t>
            </a:r>
          </a:p>
          <a:p>
            <a:pPr>
              <a:defRPr sz="1100">
                <a:latin typeface="Courier New"/>
              </a:defRPr>
            </a:pPr>
            <a:r>
              <a:t>            model="text-embedding-3-small"</a:t>
            </a:r>
          </a:p>
          <a:p>
            <a:pPr>
              <a:defRPr sz="1100">
                <a:latin typeface="Courier New"/>
              </a:defRPr>
            </a:pPr>
            <a:r>
              <a:t>        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Index instrumentation log</a:t>
            </a:r>
          </a:p>
          <a:p>
            <a:pPr>
              <a:defRPr sz="1100">
                <a:latin typeface="Courier New"/>
              </a:defRPr>
            </a:pPr>
            <a:r>
              <a:t>    def index_instrumentation_log(self, log_path)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Index Java source code</a:t>
            </a:r>
          </a:p>
          <a:p>
            <a:pPr>
              <a:defRPr sz="1100">
                <a:latin typeface="Courier New"/>
              </a:defRPr>
            </a:pPr>
            <a:r>
              <a:t>    def index_source_code(self, source_dirs)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Query methods</a:t>
            </a:r>
          </a:p>
          <a:p>
            <a:pPr>
              <a:defRPr sz="1100">
                <a:latin typeface="Courier New"/>
              </a:defRPr>
            </a:pPr>
            <a:r>
              <a:t>    def query_instrumentation(self, query) -&gt; str</a:t>
            </a:r>
          </a:p>
          <a:p>
            <a:pPr>
              <a:defRPr sz="1100">
                <a:latin typeface="Courier New"/>
              </a:defRPr>
            </a:pPr>
            <a:r>
              <a:t>    def query_code(self, query) -&gt; str</a:t>
            </a:r>
          </a:p>
          <a:p>
            <a:pPr>
              <a:defRPr sz="1100">
                <a:latin typeface="Courier New"/>
              </a:defRPr>
            </a:pPr>
            <a:r>
              <a:t>    def query_both(self, query) -&gt; str  # Synthesized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RAG Query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Instrumentation Queries (/instr):</a:t>
            </a:r>
          </a:p>
          <a:p>
            <a:pPr>
              <a:defRPr sz="1800">
                <a:latin typeface="Calibri"/>
              </a:defRPr>
            </a:pPr>
            <a:r>
              <a:t>  - What happened? Execution traces, order flow, trade history</a:t>
            </a:r>
          </a:p>
          <a:p>
            <a:pPr>
              <a:defRPr sz="1800">
                <a:latin typeface="Calibri"/>
              </a:defRPr>
            </a:pPr>
            <a:r>
              <a:t>  - Debugging: Trace specific orders through the system</a:t>
            </a:r>
          </a:p>
          <a:p>
            <a:pPr>
              <a:defRPr sz="1800">
                <a:latin typeface="Calibri"/>
              </a:defRPr>
            </a:pPr>
            <a:r>
              <a:t>  - Analysis: Market microstructure, order book dynamics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Code Queries (/code):</a:t>
            </a:r>
          </a:p>
          <a:p>
            <a:pPr>
              <a:defRPr sz="1800">
                <a:latin typeface="Calibri"/>
              </a:defRPr>
            </a:pPr>
            <a:r>
              <a:t>  - How does it work? Algorithm details, data structures</a:t>
            </a:r>
          </a:p>
          <a:p>
            <a:pPr>
              <a:defRPr sz="1800">
                <a:latin typeface="Calibri"/>
              </a:defRPr>
            </a:pPr>
            <a:r>
              <a:t>  - Architecture: Component interactions, design patterns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Combined Queries (/both):</a:t>
            </a:r>
          </a:p>
          <a:p>
            <a:pPr>
              <a:defRPr sz="1800">
                <a:latin typeface="Calibri"/>
              </a:defRPr>
            </a:pPr>
            <a:r>
              <a:t>  - Why? Connect execution behavior to code logic</a:t>
            </a:r>
          </a:p>
          <a:p>
            <a:pPr>
              <a:defRPr sz="1800">
                <a:latin typeface="Calibri"/>
              </a:defRPr>
            </a:pPr>
            <a:r>
              <a:t>  - Validation: Verify implementation matches behavior</a:t>
            </a:r>
          </a:p>
          <a:p>
            <a:pPr>
              <a:defRPr sz="1800">
                <a:latin typeface="Calibri"/>
              </a:defRPr>
            </a:pPr>
            <a:r>
              <a:t>  - Deep analysis: Theory + practice together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Instrumentation Query #1: Order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orders were executed and at what prices?"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(/instr):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Based on the instrumentation log, the following executions occurred: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1. Order VQ6EAOKbQdSnFkRmVUQAAw (SELL, 8 units)</a:t>
            </a:r>
          </a:p>
          <a:p>
            <a:pPr>
              <a:defRPr sz="1100">
                <a:latin typeface="Courier New"/>
              </a:defRPr>
            </a:pPr>
            <a:r>
              <a:t>   - Execution: FULL_FILL at price 100.60</a:t>
            </a:r>
          </a:p>
          <a:p>
            <a:pPr>
              <a:defRPr sz="1100">
                <a:latin typeface="Courier New"/>
              </a:defRPr>
            </a:pPr>
            <a:r>
              <a:t>   - Matched against order VQ6EAOKbQdSnFkRmVUQAAg (BUY)</a:t>
            </a:r>
          </a:p>
          <a:p>
            <a:pPr>
              <a:defRPr sz="1100">
                <a:latin typeface="Courier New"/>
              </a:defRPr>
            </a:pPr>
            <a:r>
              <a:t>   - Buyer paid 100.60 (seller's limit was 100.55)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2. Order VQ6EAOKbQdSnFkRmVUQAAg (BUY, 15 units)</a:t>
            </a:r>
          </a:p>
          <a:p>
            <a:pPr>
              <a:defRPr sz="1100">
                <a:latin typeface="Courier New"/>
              </a:defRPr>
            </a:pPr>
            <a:r>
              <a:t>   - Execution: PARTIAL_FILL, 8 units filled at 100.60</a:t>
            </a:r>
          </a:p>
          <a:p>
            <a:pPr>
              <a:defRPr sz="1100">
                <a:latin typeface="Courier New"/>
              </a:defRPr>
            </a:pPr>
            <a:r>
              <a:t>   - Remaining quantity: 7 units (stayed in book at 100.60)</a:t>
            </a:r>
          </a:p>
          <a:p>
            <a:pPr>
              <a:defRPr sz="1100">
                <a:latin typeface="Courier New"/>
              </a:defRPr>
            </a:pPr>
            <a:r>
              <a:t>   - Cumulative filled: 8 units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3. Order VQ6EAOKbQdSnFkRmVUQABA (BUY MARKET, 12 units)</a:t>
            </a:r>
          </a:p>
          <a:p>
            <a:pPr>
              <a:defRPr sz="1100">
                <a:latin typeface="Courier New"/>
              </a:defRPr>
            </a:pPr>
            <a:r>
              <a:t>   - First fill: PARTIAL_FILL, 5 units at 100.75</a:t>
            </a:r>
          </a:p>
          <a:p>
            <a:pPr>
              <a:defRPr sz="1100">
                <a:latin typeface="Courier New"/>
              </a:defRPr>
            </a:pPr>
            <a:r>
              <a:t>   - Matched against VQ6EAOKbQdSnFkRmVUQAAQ (SELL)</a:t>
            </a:r>
          </a:p>
          <a:p>
            <a:pPr>
              <a:defRPr sz="1100">
                <a:latin typeface="Courier New"/>
              </a:defRPr>
            </a:pPr>
            <a:r>
              <a:t>   - Final: CANCEL with 7 units unfilled (insufficient liquidity)</a:t>
            </a:r>
          </a:p>
          <a:p>
            <a:pPr>
              <a:defRPr sz="1100">
                <a:latin typeface="Courier New"/>
              </a:defRPr>
            </a:pPr>
            <a:r>
              <a:t>   - Total filled: 5 units at 100.75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Instrumentation Query #2: Order Book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was the order book state after order VQ6EAOKbQdSnFkRmVUQAAw?"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(/instr):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After processing order VQ6EAOKbQdSnFkRmVUQAAw (SELL LIMIT, 8 units at 100.55),</a:t>
            </a:r>
          </a:p>
          <a:p>
            <a:pPr>
              <a:defRPr sz="1100">
                <a:latin typeface="Courier New"/>
              </a:defRPr>
            </a:pPr>
            <a:r>
              <a:t>the SNAPSHOT event shows: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Buy Side (descending by price):</a:t>
            </a:r>
          </a:p>
          <a:p>
            <a:pPr>
              <a:defRPr sz="1100">
                <a:latin typeface="Courier New"/>
              </a:defRPr>
            </a:pPr>
            <a:r>
              <a:t>  - 100.60: Order VQ6EAOKbQdSnFkRmVUQAAg with 7 units remaining</a:t>
            </a:r>
          </a:p>
          <a:p>
            <a:pPr>
              <a:defRPr sz="1100">
                <a:latin typeface="Courier New"/>
              </a:defRPr>
            </a:pPr>
            <a:r>
              <a:t>    (originally 15, partially filled by VQ6EAOKbQdSnFkRmVUQAAw)</a:t>
            </a:r>
          </a:p>
          <a:p>
            <a:pPr>
              <a:defRPr sz="1100">
                <a:latin typeface="Courier New"/>
              </a:defRPr>
            </a:pPr>
            <a:r>
              <a:t>  - 100.50: Order VQ6EAOKbQdSnFkRmVUQAAA with 10 units</a:t>
            </a:r>
          </a:p>
          <a:p>
            <a:pPr>
              <a:defRPr sz="1100">
                <a:latin typeface="Courier New"/>
              </a:defRPr>
            </a:pPr>
            <a:r>
              <a:t>    (resting since first order, no matches yet)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Sell Side (ascending by price):</a:t>
            </a:r>
          </a:p>
          <a:p>
            <a:pPr>
              <a:defRPr sz="1100">
                <a:latin typeface="Courier New"/>
              </a:defRPr>
            </a:pPr>
            <a:r>
              <a:t>  - 100.75: Order VQ6EAOKbQdSnFkRmVUQAAQ with 5 units</a:t>
            </a:r>
          </a:p>
          <a:p>
            <a:pPr>
              <a:defRPr sz="1100">
                <a:latin typeface="Courier New"/>
              </a:defRPr>
            </a:pPr>
            <a:r>
              <a:t>    (resting, waiting for buyers at that price)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Key Insight: Order VQ6EAOKbQdSnFkRmVUQAAw fully executed against the</a:t>
            </a:r>
          </a:p>
          <a:p>
            <a:pPr>
              <a:defRPr sz="1100">
                <a:latin typeface="Courier New"/>
              </a:defRPr>
            </a:pPr>
            <a:r>
              <a:t>best buy order (VQ6EAOKbQdSnFkRmVUQAAg at 100.60) because 100.60 &gt;= 100.55.</a:t>
            </a:r>
          </a:p>
          <a:p>
            <a:pPr>
              <a:defRPr sz="1100">
                <a:latin typeface="Courier New"/>
              </a:defRPr>
            </a:pPr>
            <a:r>
              <a:t>The seller got better price than their limit!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Instrumentation Query #3: Function Call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functions were called when processing order VQ6EAOKbQdSnFkRmVUQAAw?"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(/instr):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Call Stack Trace (indentation shows call depth):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1. addOrder (8KGyw9TlT1prfI2eDxorPA) - Entry point</a:t>
            </a:r>
          </a:p>
          <a:p>
            <a:pPr>
              <a:defRPr sz="1100">
                <a:latin typeface="Courier New"/>
              </a:defRPr>
            </a:pPr>
            <a:r>
              <a:t>  2. matchSellOrder (ssPU5fanS1yNng8aKzxNXg) - Match against buy side</a:t>
            </a:r>
          </a:p>
          <a:p>
            <a:pPr>
              <a:defRPr sz="1100">
                <a:latin typeface="Courier New"/>
              </a:defRPr>
            </a:pPr>
            <a:r>
              <a:t>    3. getBestBuy (qbDB0uP0Slt8jZ4PGis8TQ) - Get best bid</a:t>
            </a:r>
          </a:p>
          <a:p>
            <a:pPr>
              <a:defRPr sz="1100">
                <a:latin typeface="Courier New"/>
              </a:defRPr>
            </a:pPr>
            <a:r>
              <a:t>    3. executeMatch (w9Tl9qe4TF2eDxorPE1ebw) - Execute the trade</a:t>
            </a:r>
          </a:p>
          <a:p>
            <a:pPr>
              <a:defRPr sz="1100">
                <a:latin typeface="Courier New"/>
              </a:defRPr>
            </a:pPr>
            <a:r>
              <a:t>      4. recordExecutionReport (5_al9qe4TF2eDxorPE1eaw) - Record seller report</a:t>
            </a:r>
          </a:p>
          <a:p>
            <a:pPr>
              <a:defRPr sz="1100">
                <a:latin typeface="Courier New"/>
              </a:defRPr>
            </a:pPr>
            <a:r>
              <a:t>        -&gt; EXEC_REPORT: VQ6EAOKbQdSnFkRmVUQAAw FULL_FILL 8@100.60</a:t>
            </a:r>
          </a:p>
          <a:p>
            <a:pPr>
              <a:defRPr sz="1100">
                <a:latin typeface="Courier New"/>
              </a:defRPr>
            </a:pPr>
            <a:r>
              <a:t>      4. recordExecutionReport (5_al9qe4TF2eDxorPE1eaw) - Record buyer report</a:t>
            </a:r>
          </a:p>
          <a:p>
            <a:pPr>
              <a:defRPr sz="1100">
                <a:latin typeface="Courier New"/>
              </a:defRPr>
            </a:pPr>
            <a:r>
              <a:t>        -&gt; EXEC_REPORT: VQ6EAOKbQdSnFkRmVUQAAg PARTIAL_FILL 8@100.60</a:t>
            </a:r>
          </a:p>
          <a:p>
            <a:pPr>
              <a:defRPr sz="1100">
                <a:latin typeface="Courier New"/>
              </a:defRPr>
            </a:pPr>
            <a:r>
              <a:t>  -&gt; SNAPSHOT: Updated order book state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The function UUIDs map to specific methods via @FunctionMetadata annotations.</a:t>
            </a:r>
          </a:p>
          <a:p>
            <a:pPr>
              <a:defRPr sz="1100">
                <a:latin typeface="Courier New"/>
              </a:defRPr>
            </a:pPr>
            <a:r>
              <a:t>This trace shows the complete execution path through the matching engine.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Code Query #1: Matching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"How does the price-time priority matching algorithm work?"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(/code):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The matching engine implements price-time priority through a two-level structure: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1. Price Priority (TreeMap):</a:t>
            </a:r>
          </a:p>
          <a:p>
            <a:pPr>
              <a:defRPr sz="1100">
                <a:latin typeface="Courier New"/>
              </a:defRPr>
            </a:pPr>
            <a:r>
              <a:t>   - Buy side: TreeMap with DESCENDING order (highest price first)</a:t>
            </a:r>
          </a:p>
          <a:p>
            <a:pPr>
              <a:defRPr sz="1100">
                <a:latin typeface="Courier New"/>
              </a:defRPr>
            </a:pPr>
            <a:r>
              <a:t>   - Sell side: TreeMap with ASCENDING order (lowest price first)</a:t>
            </a:r>
          </a:p>
          <a:p>
            <a:pPr>
              <a:defRPr sz="1100">
                <a:latin typeface="Courier New"/>
              </a:defRPr>
            </a:pPr>
            <a:r>
              <a:t>   - This ensures best bid/ask are always at firstEntry()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2. Time Priority (LinkedList):</a:t>
            </a:r>
          </a:p>
          <a:p>
            <a:pPr>
              <a:defRPr sz="1100">
                <a:latin typeface="Courier New"/>
              </a:defRPr>
            </a:pPr>
            <a:r>
              <a:t>   - Each price level contains a LinkedList&lt;Order&gt;</a:t>
            </a:r>
          </a:p>
          <a:p>
            <a:pPr>
              <a:defRPr sz="1100">
                <a:latin typeface="Courier New"/>
              </a:defRPr>
            </a:pPr>
            <a:r>
              <a:t>   - Orders are added to the tail, removed from the head (FIFO)</a:t>
            </a:r>
          </a:p>
          <a:p>
            <a:pPr>
              <a:defRPr sz="1100">
                <a:latin typeface="Courier New"/>
              </a:defRPr>
            </a:pPr>
            <a:r>
              <a:t>   - First order at a price level gets matched first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Matching Logic (from MatchingEngine.executeMatch):</a:t>
            </a:r>
          </a:p>
          <a:p>
            <a:pPr>
              <a:defRPr sz="1100">
                <a:latin typeface="Courier New"/>
              </a:defRPr>
            </a:pPr>
            <a:r>
              <a:t>   long fillQuantity = Math.min(</a:t>
            </a:r>
          </a:p>
          <a:p>
            <a:pPr>
              <a:defRPr sz="1100">
                <a:latin typeface="Courier New"/>
              </a:defRPr>
            </a:pPr>
            <a:r>
              <a:t>       incomingOrder.getRemainingQuantity(),</a:t>
            </a:r>
          </a:p>
          <a:p>
            <a:pPr>
              <a:defRPr sz="1100">
                <a:latin typeface="Courier New"/>
              </a:defRPr>
            </a:pPr>
            <a:r>
              <a:t>       restingOrder.getRemainingQuantity()</a:t>
            </a:r>
          </a:p>
          <a:p>
            <a:pPr>
              <a:defRPr sz="1100">
                <a:latin typeface="Courier New"/>
              </a:defRPr>
            </a:pPr>
            <a:r>
              <a:t>   );</a:t>
            </a:r>
          </a:p>
          <a:p>
            <a:pPr>
              <a:defRPr sz="1100">
                <a:latin typeface="Courier New"/>
              </a:defRPr>
            </a:pPr>
            <a:r>
              <a:t>   // Execute at resting order's price (maker price advantage)</a:t>
            </a:r>
          </a:p>
          <a:p>
            <a:pPr>
              <a:defRPr sz="1100">
                <a:latin typeface="Courier New"/>
              </a:defRPr>
            </a:pPr>
            <a:r>
              <a:t>   BigDecimal executionPrice = restingOrder.getPrice();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This ensures: Best prices matched first, then earliest orders within each price.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Code Query #2: Order Book 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"Explain the OrderBook data structure and why TreeMap was chosen."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(/code):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OrderBook.java uses TreeMap for efficient price-level operations: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private final TreeMap&lt;BigDecimal, LinkedList&lt;Order&gt;&gt; buySide;</a:t>
            </a:r>
          </a:p>
          <a:p>
            <a:pPr>
              <a:defRPr sz="1100">
                <a:latin typeface="Courier New"/>
              </a:defRPr>
            </a:pPr>
            <a:r>
              <a:t>private final TreeMap&lt;BigDecimal, LinkedList&lt;Order&gt;&gt; sellSide;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Constructor:</a:t>
            </a:r>
          </a:p>
          <a:p>
            <a:pPr>
              <a:defRPr sz="1100">
                <a:latin typeface="Courier New"/>
              </a:defRPr>
            </a:pPr>
            <a:r>
              <a:t>  buySide = new TreeMap&lt;&gt;(Comparator.reverseOrder());  // Descending</a:t>
            </a:r>
          </a:p>
          <a:p>
            <a:pPr>
              <a:defRPr sz="1100">
                <a:latin typeface="Courier New"/>
              </a:defRPr>
            </a:pPr>
            <a:r>
              <a:t>  sellSide = new TreeMap&lt;&gt;();  // Natural ascending order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Why TreeMap?</a:t>
            </a:r>
          </a:p>
          <a:p>
            <a:pPr>
              <a:defRPr sz="1100">
                <a:latin typeface="Courier New"/>
              </a:defRPr>
            </a:pPr>
            <a:r>
              <a:t>  - O(log n) insertion, deletion, and search</a:t>
            </a:r>
          </a:p>
          <a:p>
            <a:pPr>
              <a:defRPr sz="1100">
                <a:latin typeface="Courier New"/>
              </a:defRPr>
            </a:pPr>
            <a:r>
              <a:t>  - firstEntry() gives best bid/ask in O(log n)</a:t>
            </a:r>
          </a:p>
          <a:p>
            <a:pPr>
              <a:defRPr sz="1100">
                <a:latin typeface="Courier New"/>
              </a:defRPr>
            </a:pPr>
            <a:r>
              <a:t>  - Maintains sorted order automatically</a:t>
            </a:r>
          </a:p>
          <a:p>
            <a:pPr>
              <a:defRPr sz="1100">
                <a:latin typeface="Courier New"/>
              </a:defRPr>
            </a:pPr>
            <a:r>
              <a:t>  - Efficient range queries for price levels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Why LinkedList for each price level?</a:t>
            </a:r>
          </a:p>
          <a:p>
            <a:pPr>
              <a:defRPr sz="1100">
                <a:latin typeface="Courier New"/>
              </a:defRPr>
            </a:pPr>
            <a:r>
              <a:t>  - O(1) insertion at tail (add new order)</a:t>
            </a:r>
          </a:p>
          <a:p>
            <a:pPr>
              <a:defRPr sz="1100">
                <a:latin typeface="Courier New"/>
              </a:defRPr>
            </a:pPr>
            <a:r>
              <a:t>  - O(1) removal from head (match oldest order)</a:t>
            </a:r>
          </a:p>
          <a:p>
            <a:pPr>
              <a:defRPr sz="1100">
                <a:latin typeface="Courier New"/>
              </a:defRPr>
            </a:pPr>
            <a:r>
              <a:t>  - Preserves time priority (FIFO) within price level</a:t>
            </a:r>
          </a:p>
          <a:p>
            <a:pPr>
              <a:defRPr sz="1100">
                <a:latin typeface="Courier New"/>
              </a:defRPr>
            </a:pPr>
            <a:r>
              <a:t>  - No random access needed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This combination provides optimal performance for matching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Code Query #3: @FunctionMetadata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"What is the @FunctionMetadata annotation and how is it used?"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(/code):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@FunctionMetadata is a custom annotation defined in the codebase: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@Retention(RetentionPolicy.RUNTIME)  // Available at runtime</a:t>
            </a:r>
          </a:p>
          <a:p>
            <a:pPr>
              <a:defRPr sz="1100">
                <a:latin typeface="Courier New"/>
              </a:defRPr>
            </a:pPr>
            <a:r>
              <a:t>@Target(ElementType.METHOD)          // Applied to methods</a:t>
            </a:r>
          </a:p>
          <a:p>
            <a:pPr>
              <a:defRPr sz="1100">
                <a:latin typeface="Courier New"/>
              </a:defRPr>
            </a:pPr>
            <a:r>
              <a:t>public @interface FunctionMetadata {</a:t>
            </a:r>
          </a:p>
          <a:p>
            <a:pPr>
              <a:defRPr sz="1100">
                <a:latin typeface="Courier New"/>
              </a:defRPr>
            </a:pPr>
            <a:r>
              <a:t>    String uuid();          // Unique Base64-encoded identifier</a:t>
            </a:r>
          </a:p>
          <a:p>
            <a:pPr>
              <a:defRPr sz="1100">
                <a:latin typeface="Courier New"/>
              </a:defRPr>
            </a:pPr>
            <a:r>
              <a:t>    String functionName();  // Human-readable name</a:t>
            </a:r>
          </a:p>
          <a:p>
            <a:pPr>
              <a:defRPr sz="1100">
                <a:latin typeface="Courier New"/>
              </a:defRPr>
            </a:pPr>
            <a:r>
              <a:t>    String description();   // Detailed business logic description</a:t>
            </a:r>
          </a:p>
          <a:p>
            <a:pPr>
              <a:defRPr sz="1100">
                <a:latin typeface="Courier New"/>
              </a:defRPr>
            </a:pPr>
            <a:r>
              <a:t>}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Usage Example (from MatchingEngine.java):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@FunctionMetadata(</a:t>
            </a:r>
          </a:p>
          <a:p>
            <a:pPr>
              <a:defRPr sz="1100">
                <a:latin typeface="Courier New"/>
              </a:defRPr>
            </a:pPr>
            <a:r>
              <a:t>    uuid = "w9Tl9qe4TF2eDxorPE1ebw",</a:t>
            </a:r>
          </a:p>
          <a:p>
            <a:pPr>
              <a:defRPr sz="1100">
                <a:latin typeface="Courier New"/>
              </a:defRPr>
            </a:pPr>
            <a:r>
              <a:t>    functionName = "executeMatch",</a:t>
            </a:r>
          </a:p>
          <a:p>
            <a:pPr>
              <a:defRPr sz="1100">
                <a:latin typeface="Courier New"/>
              </a:defRPr>
            </a:pPr>
            <a:r>
              <a:t>    description = "Executes a trade between an incoming order and a</a:t>
            </a:r>
          </a:p>
          <a:p>
            <a:pPr>
              <a:defRPr sz="1100">
                <a:latin typeface="Courier New"/>
              </a:defRPr>
            </a:pPr>
            <a:r>
              <a:t>                   resting order, generating execution reports..."</a:t>
            </a:r>
          </a:p>
          <a:p>
            <a:pPr>
              <a:defRPr sz="1100">
                <a:latin typeface="Courier New"/>
              </a:defRPr>
            </a:pPr>
            <a:r>
              <a:t>)</a:t>
            </a:r>
          </a:p>
          <a:p>
            <a:pPr>
              <a:defRPr sz="1100">
                <a:latin typeface="Courier New"/>
              </a:defRPr>
            </a:pPr>
            <a:r>
              <a:t>private void executeMatch(Order incomingOrder, Order restingOrder)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Benefits:</a:t>
            </a:r>
          </a:p>
          <a:p>
            <a:pPr>
              <a:defRPr sz="1100">
                <a:latin typeface="Courier New"/>
              </a:defRPr>
            </a:pPr>
            <a:r>
              <a:t>  - Runtime introspection for instrumentation agent</a:t>
            </a:r>
          </a:p>
          <a:p>
            <a:pPr>
              <a:defRPr sz="1100">
                <a:latin typeface="Courier New"/>
              </a:defRPr>
            </a:pPr>
            <a:r>
              <a:t>  - Stable UUID identification across refactoring</a:t>
            </a:r>
          </a:p>
          <a:p>
            <a:pPr>
              <a:defRPr sz="1100">
                <a:latin typeface="Courier New"/>
              </a:defRPr>
            </a:pPr>
            <a:r>
              <a:t>  - Self-documenting code with business logic descriptions</a:t>
            </a:r>
          </a:p>
          <a:p>
            <a:pPr>
              <a:defRPr sz="1100">
                <a:latin typeface="Courier New"/>
              </a:defRPr>
            </a:pPr>
            <a:r>
              <a:t>  - Enables automatic function metadata export to logs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Combined Query #1: Order Processing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"Explain exactly how order VQ6EAOKbQdSnFkRmVUQAAw was processed."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(/both - Synthesized):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Order Details (from instrumentation):</a:t>
            </a:r>
          </a:p>
          <a:p>
            <a:pPr>
              <a:defRPr sz="1100">
                <a:latin typeface="Courier New"/>
              </a:defRPr>
            </a:pPr>
            <a:r>
              <a:t>  - VQ6EAOKbQdSnFkRmVUQAAw: SELL LIMIT, 8 units at 100.55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Processing Flow (combining code + logs):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1. Entry (MatchingEngine.addOrder - UUID: 8KGyw9TlT1prfI2eDxorPA):</a:t>
            </a:r>
          </a:p>
          <a:p>
            <a:pPr>
              <a:defRPr sz="1100">
                <a:latin typeface="Courier New"/>
              </a:defRPr>
            </a:pPr>
            <a:r>
              <a:t>   Code shows: Routes SELL orders to matchSellOrder()</a:t>
            </a:r>
          </a:p>
          <a:p>
            <a:pPr>
              <a:defRPr sz="1100">
                <a:latin typeface="Courier New"/>
              </a:defRPr>
            </a:pPr>
            <a:r>
              <a:t>   Log shows: CALL event at 2026-02-16T00:52:31.403997Z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2. Matching (matchSellOrder - UUID: ssPU5fanS1yNng8aKzxNXg):</a:t>
            </a:r>
          </a:p>
          <a:p>
            <a:pPr>
              <a:defRPr sz="1100">
                <a:latin typeface="Courier New"/>
              </a:defRPr>
            </a:pPr>
            <a:r>
              <a:t>   Code shows: Loops through buy side while remainingQty &gt; 0</a:t>
            </a:r>
          </a:p>
          <a:p>
            <a:pPr>
              <a:defRPr sz="1100">
                <a:latin typeface="Courier New"/>
              </a:defRPr>
            </a:pPr>
            <a:r>
              <a:t>               Stops when best buy price &lt; sell limit price</a:t>
            </a:r>
          </a:p>
          <a:p>
            <a:pPr>
              <a:defRPr sz="1100">
                <a:latin typeface="Courier New"/>
              </a:defRPr>
            </a:pPr>
            <a:r>
              <a:t>   Log shows: Called getBestBuy, found VQ6EAOKbQdSnFkRmVUQAAg at 100.60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3. Price Check: 100.60 (best buy) &gt;= 100.55 (sell limit) -&gt; CAN MATCH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4. Execution (executeMatch - UUID: w9Tl9qe4TF2eDxorPE1ebw):</a:t>
            </a:r>
          </a:p>
          <a:p>
            <a:pPr>
              <a:defRPr sz="1100">
                <a:latin typeface="Courier New"/>
              </a:defRPr>
            </a:pPr>
            <a:r>
              <a:t>   Code shows: fillQty = min(8, 15) = 8</a:t>
            </a:r>
          </a:p>
          <a:p>
            <a:pPr>
              <a:defRPr sz="1100">
                <a:latin typeface="Courier New"/>
              </a:defRPr>
            </a:pPr>
            <a:r>
              <a:t>               executionPrice = 100.60 (resting order's price)</a:t>
            </a:r>
          </a:p>
          <a:p>
            <a:pPr>
              <a:defRPr sz="1100">
                <a:latin typeface="Courier New"/>
              </a:defRPr>
            </a:pPr>
            <a:r>
              <a:t>   Log shows: Two EXEC_REPORT events generated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5. Result: Seller filled all 8 units at 100.60 (better than 100.55 limit!)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Combined Query #2: Market Order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"Why did market order VQ6EAOKbQdSnFkRmVUQABA partially fill</a:t>
            </a:r>
          </a:p>
          <a:p>
            <a:pPr>
              <a:defRPr sz="1100">
                <a:latin typeface="Courier New"/>
              </a:defRPr>
            </a:pPr>
            <a:r>
              <a:t>            then cancel?"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(/both - Synthesized):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Order Details:</a:t>
            </a:r>
          </a:p>
          <a:p>
            <a:pPr>
              <a:defRPr sz="1100">
                <a:latin typeface="Courier New"/>
              </a:defRPr>
            </a:pPr>
            <a:r>
              <a:t>  - VQ6EAOKbQdSnFkRmVUQABA: BUY MARKET, 12 units, no price limit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Code Logic (MatchingEngine.matchBuyOrder):</a:t>
            </a:r>
          </a:p>
          <a:p>
            <a:pPr>
              <a:defRPr sz="1100">
                <a:latin typeface="Courier New"/>
              </a:defRPr>
            </a:pPr>
            <a:r>
              <a:t>  For MARKET orders:</a:t>
            </a:r>
          </a:p>
          <a:p>
            <a:pPr>
              <a:defRPr sz="1100">
                <a:latin typeface="Courier New"/>
              </a:defRPr>
            </a:pPr>
            <a:r>
              <a:t>    - Continue matching while remainingQuantity &gt; 0 AND sellSide not empty</a:t>
            </a:r>
          </a:p>
          <a:p>
            <a:pPr>
              <a:defRPr sz="1100">
                <a:latin typeface="Courier New"/>
              </a:defRPr>
            </a:pPr>
            <a:r>
              <a:t>    - No price check (market orders accept any price)</a:t>
            </a:r>
          </a:p>
          <a:p>
            <a:pPr>
              <a:defRPr sz="1100">
                <a:latin typeface="Courier New"/>
              </a:defRPr>
            </a:pPr>
            <a:r>
              <a:t>    - If unfilled after exhausting liquidity -&gt; CANCEL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Execution Trace (from logs):</a:t>
            </a:r>
          </a:p>
          <a:p>
            <a:pPr>
              <a:defRPr sz="1100">
                <a:latin typeface="Courier New"/>
              </a:defRPr>
            </a:pPr>
            <a:r>
              <a:t>  1. sMHS4_SlS1yNng8aKzxNXg (getBestSell) -&gt; Found VQ6EAOKbQdSnFkRmVUQAAQ</a:t>
            </a:r>
          </a:p>
          <a:p>
            <a:pPr>
              <a:defRPr sz="1100">
                <a:latin typeface="Courier New"/>
              </a:defRPr>
            </a:pPr>
            <a:r>
              <a:t>  2. executeMatch -&gt; Filled 5 units at 100.75</a:t>
            </a:r>
          </a:p>
          <a:p>
            <a:pPr>
              <a:defRPr sz="1100">
                <a:latin typeface="Courier New"/>
              </a:defRPr>
            </a:pPr>
            <a:r>
              <a:t>     EXEC_REPORT: PARTIAL_FILL, cumQty=5, remaining=7</a:t>
            </a:r>
          </a:p>
          <a:p>
            <a:pPr>
              <a:defRPr sz="1100">
                <a:latin typeface="Courier New"/>
              </a:defRPr>
            </a:pPr>
            <a:r>
              <a:t>  3. removeOrder (4_SltsfYTl8aKzxNXm96iw) -&gt; Removed fully filled sell order</a:t>
            </a:r>
          </a:p>
          <a:p>
            <a:pPr>
              <a:defRPr sz="1100">
                <a:latin typeface="Courier New"/>
              </a:defRPr>
            </a:pPr>
            <a:r>
              <a:t>  4. sMHS4_SlS1yNng8aKzxNXg -&gt; No more sell orders (returns null)</a:t>
            </a:r>
          </a:p>
          <a:p>
            <a:pPr>
              <a:defRPr sz="1100">
                <a:latin typeface="Courier New"/>
              </a:defRPr>
            </a:pPr>
            <a:r>
              <a:t>  5. recordExecutionReport -&gt; CANCEL with lastQty=7 (unfilled)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Why CANCEL?</a:t>
            </a:r>
          </a:p>
          <a:p>
            <a:pPr>
              <a:defRPr sz="1100">
                <a:latin typeface="Courier New"/>
              </a:defRPr>
            </a:pPr>
            <a:r>
              <a:t>  Code shows: Market orders with remaining quantity log a warning and</a:t>
            </a:r>
          </a:p>
          <a:p>
            <a:pPr>
              <a:defRPr sz="1100">
                <a:latin typeface="Courier New"/>
              </a:defRPr>
            </a:pPr>
            <a:r>
              <a:t>              generate CANCEL execution report (insufficient liquidity)</a:t>
            </a:r>
          </a:p>
          <a:p>
            <a:pPr>
              <a:defRPr sz="1100">
                <a:latin typeface="Courier New"/>
              </a:defRPr>
            </a:pPr>
            <a:r>
              <a:t>  This prevents market orders from resting in the 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Combined Query #3: Price Improvement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Question: "Show me examples where orders got better prices than their limits."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Answer from RAG Pipeline (/both - Synthesized):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Price Improvement Mechanism (from code):</a:t>
            </a:r>
          </a:p>
          <a:p>
            <a:pPr>
              <a:defRPr sz="1100">
                <a:latin typeface="Courier New"/>
              </a:defRPr>
            </a:pPr>
            <a:r>
              <a:t>  In executeMatch(), execution price = restingOrder.getPrice()</a:t>
            </a:r>
          </a:p>
          <a:p>
            <a:pPr>
              <a:defRPr sz="1100">
                <a:latin typeface="Courier New"/>
              </a:defRPr>
            </a:pPr>
            <a:r>
              <a:t>  This gives "maker price advantage" - the resting order's price is used.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Example from Logs: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Order VQ6EAOKbQdSnFkRmVUQAAw:</a:t>
            </a:r>
          </a:p>
          <a:p>
            <a:pPr>
              <a:defRPr sz="1100">
                <a:latin typeface="Courier New"/>
              </a:defRPr>
            </a:pPr>
            <a:r>
              <a:t>  - Placed: SELL LIMIT at 100.55 (willing to sell at this price or higher)</a:t>
            </a:r>
          </a:p>
          <a:p>
            <a:pPr>
              <a:defRPr sz="1100">
                <a:latin typeface="Courier New"/>
              </a:defRPr>
            </a:pPr>
            <a:r>
              <a:t>  - Matched: Against buy order at 100.60</a:t>
            </a:r>
          </a:p>
          <a:p>
            <a:pPr>
              <a:defRPr sz="1100">
                <a:latin typeface="Courier New"/>
              </a:defRPr>
            </a:pPr>
            <a:r>
              <a:t>  - Executed: At 100.60 (0.05 price improvement!)</a:t>
            </a:r>
          </a:p>
          <a:p>
            <a:pPr>
              <a:defRPr sz="1100">
                <a:latin typeface="Courier New"/>
              </a:defRPr>
            </a:pPr>
            <a:r>
              <a:t>  - Reason: Buyer was resting at 100.60, so seller got the better price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Why This Happens:</a:t>
            </a:r>
          </a:p>
          <a:p>
            <a:pPr>
              <a:defRPr sz="1100">
                <a:latin typeface="Courier New"/>
              </a:defRPr>
            </a:pPr>
            <a:r>
              <a:t>  Code (matchSellOrder): Checks if bestBuyPrice &gt;= sellLimitPrice</a:t>
            </a:r>
          </a:p>
          <a:p>
            <a:pPr>
              <a:defRPr sz="1100">
                <a:latin typeface="Courier New"/>
              </a:defRPr>
            </a:pPr>
            <a:r>
              <a:t>  - If 100.60 &gt;= 100.55 -&gt; MATCH at 100.60 (resting buy order's price)</a:t>
            </a:r>
          </a:p>
          <a:p>
            <a:pPr>
              <a:defRPr sz="1100">
                <a:latin typeface="Courier New"/>
              </a:defRPr>
            </a:pPr>
            <a:r>
              <a:t>  - Seller benefits from buyer's higher limit price</a:t>
            </a:r>
          </a:p>
          <a:p>
            <a:pPr>
              <a:defRPr sz="1100">
                <a:latin typeface="Courier New"/>
              </a:defRPr>
            </a:pPr>
            <a:r>
              <a:t>  - This rewards liquidity providers (makers) over takers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Price-Time Priority:</a:t>
            </a:r>
          </a:p>
          <a:p>
            <a:pPr>
              <a:defRPr sz="1100">
                <a:latin typeface="Courier New"/>
              </a:defRPr>
            </a:pPr>
            <a:r>
              <a:t>  1. Best prices matched first (price priority)</a:t>
            </a:r>
          </a:p>
          <a:p>
            <a:pPr>
              <a:defRPr sz="1100">
                <a:latin typeface="Courier New"/>
              </a:defRPr>
            </a:pPr>
            <a:r>
              <a:t>  2. Within price level, oldest orders first (time priority)</a:t>
            </a:r>
          </a:p>
          <a:p>
            <a:pPr>
              <a:defRPr sz="1100">
                <a:latin typeface="Courier New"/>
              </a:defRPr>
            </a:pPr>
            <a:r>
              <a:t>  3. Execution at resting order's price (maker advantage)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RAG Query Capabilities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Instrumentation Queries Answer:</a:t>
            </a:r>
          </a:p>
          <a:p>
            <a:pPr>
              <a:defRPr sz="1800">
                <a:latin typeface="Calibri"/>
              </a:defRPr>
            </a:pPr>
            <a:r>
              <a:t>  - What happened? (execution history, order flow)</a:t>
            </a:r>
          </a:p>
          <a:p>
            <a:pPr>
              <a:defRPr sz="1800">
                <a:latin typeface="Calibri"/>
              </a:defRPr>
            </a:pPr>
            <a:r>
              <a:t>  - When? (timestamps, sequence of events)</a:t>
            </a:r>
          </a:p>
          <a:p>
            <a:pPr>
              <a:defRPr sz="1800">
                <a:latin typeface="Calibri"/>
              </a:defRPr>
            </a:pPr>
            <a:r>
              <a:t>  - Who? (specific order IDs and their journey)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Code Queries Answer:</a:t>
            </a:r>
          </a:p>
          <a:p>
            <a:pPr>
              <a:defRPr sz="1800">
                <a:latin typeface="Calibri"/>
              </a:defRPr>
            </a:pPr>
            <a:r>
              <a:t>  - How does it work? (algorithms, data structures)</a:t>
            </a:r>
          </a:p>
          <a:p>
            <a:pPr>
              <a:defRPr sz="1800">
                <a:latin typeface="Calibri"/>
              </a:defRPr>
            </a:pPr>
            <a:r>
              <a:t>  - Why this design? (architecture decisions)</a:t>
            </a:r>
          </a:p>
          <a:p>
            <a:pPr>
              <a:defRPr sz="1800">
                <a:latin typeface="Calibri"/>
              </a:defRPr>
            </a:pPr>
            <a:r>
              <a:t>  - What are the rules? (business logic, validations)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Combined Queries Answer:</a:t>
            </a:r>
          </a:p>
          <a:p>
            <a:pPr>
              <a:defRPr sz="1800">
                <a:latin typeface="Calibri"/>
              </a:defRPr>
            </a:pPr>
            <a:r>
              <a:t>  - Why did X happen? (connect behavior to code)</a:t>
            </a:r>
          </a:p>
          <a:p>
            <a:pPr>
              <a:defRPr sz="1800">
                <a:latin typeface="Calibri"/>
              </a:defRPr>
            </a:pPr>
            <a:r>
              <a:t>  - Is the implementation correct? (verify against spec)</a:t>
            </a:r>
          </a:p>
          <a:p>
            <a:pPr>
              <a:defRPr sz="1800">
                <a:latin typeface="Calibri"/>
              </a:defRPr>
            </a:pPr>
            <a:r>
              <a:t>  - How would Y be different? (counterfactual analysis)</a:t>
            </a:r>
          </a:p>
          <a:p>
            <a:pPr>
              <a:defRPr sz="1800">
                <a:latin typeface="Calibri"/>
              </a:defRPr>
            </a:pPr>
            <a:r>
              <a:t>  - Teach me by example (theory + real execution traces)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More RAG Query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Debugging Queries:</a:t>
            </a:r>
          </a:p>
          <a:p>
            <a:pPr>
              <a:defRPr sz="1100">
                <a:latin typeface="Courier New"/>
              </a:defRPr>
            </a:pPr>
            <a:r>
              <a:t>  - "Which orders are still resting in the book?"</a:t>
            </a:r>
          </a:p>
          <a:p>
            <a:pPr>
              <a:defRPr sz="1100">
                <a:latin typeface="Courier New"/>
              </a:defRPr>
            </a:pPr>
            <a:r>
              <a:t>  - "Why didn't order X match with order Y?"</a:t>
            </a:r>
          </a:p>
          <a:p>
            <a:pPr>
              <a:defRPr sz="1100">
                <a:latin typeface="Courier New"/>
              </a:defRPr>
            </a:pPr>
            <a:r>
              <a:t>  - "Show me all partial fills and their cumulative quantities"</a:t>
            </a:r>
          </a:p>
          <a:p>
            <a:pPr>
              <a:defRPr sz="1100">
                <a:latin typeface="Courier New"/>
              </a:defRPr>
            </a:pPr>
            <a:r>
              <a:t>  - "What was the spread (best bid - best ask) after order Z?"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Architecture Queries:</a:t>
            </a:r>
          </a:p>
          <a:p>
            <a:pPr>
              <a:defRPr sz="1100">
                <a:latin typeface="Courier New"/>
              </a:defRPr>
            </a:pPr>
            <a:r>
              <a:t>  - "How does the system prevent race conditions?"</a:t>
            </a:r>
          </a:p>
          <a:p>
            <a:pPr>
              <a:defRPr sz="1100">
                <a:latin typeface="Courier New"/>
              </a:defRPr>
            </a:pPr>
            <a:r>
              <a:t>  - "What happens if two orders arrive at the same price?"</a:t>
            </a:r>
          </a:p>
          <a:p>
            <a:pPr>
              <a:defRPr sz="1100">
                <a:latin typeface="Courier New"/>
              </a:defRPr>
            </a:pPr>
            <a:r>
              <a:t>  - "Explain the relationship between Order and ExecutionReport"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Performance Analysis:</a:t>
            </a:r>
          </a:p>
          <a:p>
            <a:pPr>
              <a:defRPr sz="1100">
                <a:latin typeface="Courier New"/>
              </a:defRPr>
            </a:pPr>
            <a:r>
              <a:t>  - "How many function calls does a simple match require?"</a:t>
            </a:r>
          </a:p>
          <a:p>
            <a:pPr>
              <a:defRPr sz="1100">
                <a:latin typeface="Courier New"/>
              </a:defRPr>
            </a:pPr>
            <a:r>
              <a:t>  - "What is the complexity of adding an order to the book?"</a:t>
            </a:r>
          </a:p>
          <a:p>
            <a:pPr>
              <a:defRPr sz="1100">
                <a:latin typeface="Courier New"/>
              </a:defRPr>
            </a:pPr>
            <a:r>
              <a:t>  - "Show me the call depth for order VQ6EAOKbQdSnFkRmVUQAAw"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Compliance &amp; Audit:</a:t>
            </a:r>
          </a:p>
          <a:p>
            <a:pPr>
              <a:defRPr sz="1100">
                <a:latin typeface="Courier New"/>
              </a:defRPr>
            </a:pPr>
            <a:r>
              <a:t>  - "Show complete audit trail for order VQ6EAOKbQdSnFkRmVUQABA"</a:t>
            </a:r>
          </a:p>
          <a:p>
            <a:pPr>
              <a:defRPr sz="1100">
                <a:latin typeface="Courier New"/>
              </a:defRPr>
            </a:pPr>
            <a:r>
              <a:t>  - "Were there any price improvements in the execution log?"</a:t>
            </a:r>
          </a:p>
          <a:p>
            <a:pPr>
              <a:defRPr sz="1100">
                <a:latin typeface="Courier New"/>
              </a:defRPr>
            </a:pPr>
            <a:r>
              <a:t>  - "Verify all executions follow price-time priority"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Arial"/>
              </a:defRPr>
            </a:pPr>
            <a:r>
              <a:t>RAG Query Flow: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Query: "Explain order VQ6EAOKbQdSnFkRmVUQAAw processing"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Step 1: Query Instrumentation Index</a:t>
            </a:r>
          </a:p>
          <a:p>
            <a:pPr>
              <a:defRPr sz="1100">
                <a:latin typeface="Courier New"/>
              </a:defRPr>
            </a:pPr>
            <a:r>
              <a:t>  - Vector search finds relevant log sections</a:t>
            </a:r>
          </a:p>
          <a:p>
            <a:pPr>
              <a:defRPr sz="1100">
                <a:latin typeface="Courier New"/>
              </a:defRPr>
            </a:pPr>
            <a:r>
              <a:t>  - Retrieved: ORDER_IN, CALL events, EXEC_REPORT, SNAPSHOT</a:t>
            </a:r>
          </a:p>
          <a:p>
            <a:pPr>
              <a:defRPr sz="1100">
                <a:latin typeface="Courier New"/>
              </a:defRPr>
            </a:pPr>
            <a:r>
              <a:t>  - Context: "SELL LIMIT, 8 units at 100.55, matched at 100.60"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Step 2: Query Code Index</a:t>
            </a:r>
          </a:p>
          <a:p>
            <a:pPr>
              <a:defRPr sz="1100">
                <a:latin typeface="Courier New"/>
              </a:defRPr>
            </a:pPr>
            <a:r>
              <a:t>  - Semantic search on Java source files</a:t>
            </a:r>
          </a:p>
          <a:p>
            <a:pPr>
              <a:defRPr sz="1100">
                <a:latin typeface="Courier New"/>
              </a:defRPr>
            </a:pPr>
            <a:r>
              <a:t>  - Retrieved: MatchingEngine.addOrder(), matchSellOrder(), executeMatch()</a:t>
            </a:r>
          </a:p>
          <a:p>
            <a:pPr>
              <a:defRPr sz="1100">
                <a:latin typeface="Courier New"/>
              </a:defRPr>
            </a:pPr>
            <a:r>
              <a:t>  - Context: Function implementations and business logic descriptions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Step 3: Synthesize with Claude Opus 4</a:t>
            </a:r>
          </a:p>
          <a:p>
            <a:pPr>
              <a:defRPr sz="1100">
                <a:latin typeface="Courier New"/>
              </a:defRPr>
            </a:pPr>
            <a:r>
              <a:t>  - Combines both contexts into coherent narrative</a:t>
            </a:r>
          </a:p>
          <a:p>
            <a:pPr>
              <a:defRPr sz="1100">
                <a:latin typeface="Courier New"/>
              </a:defRPr>
            </a:pPr>
            <a:r>
              <a:t>  - Cross-references function UUIDs with actual calls</a:t>
            </a:r>
          </a:p>
          <a:p>
            <a:pPr>
              <a:defRPr sz="1100">
                <a:latin typeface="Courier New"/>
              </a:defRPr>
            </a:pPr>
            <a:r>
              <a:t>  - Explains why execution price (100.60) differed from limit (100.55)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Result: Comprehensive answer explaining WHAT happened (logs),</a:t>
            </a:r>
          </a:p>
          <a:p>
            <a:pPr>
              <a:defRPr sz="1100">
                <a:latin typeface="Courier New"/>
              </a:defRPr>
            </a:pPr>
            <a:r>
              <a:t>HOW it works (code), and WHY (price improvement, maker advantage).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The RAG pipeline acts as an AI assistant that understands both</a:t>
            </a:r>
          </a:p>
          <a:p>
            <a:pPr>
              <a:defRPr sz="1100">
                <a:latin typeface="Courier New"/>
              </a:defRPr>
            </a:pPr>
            <a:r>
              <a:t>your code and its runtime behavior.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Use Cases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Debugging: Trace order execution paths with AI assistance</a:t>
            </a:r>
          </a:p>
          <a:p>
            <a:pPr>
              <a:defRPr sz="1800">
                <a:latin typeface="Calibri"/>
              </a:defRPr>
            </a:pPr>
            <a:r>
              <a:t>  - 'Why didn't my order match?' - Get immediate answers</a:t>
            </a:r>
          </a:p>
          <a:p>
            <a:pPr>
              <a:defRPr sz="1800">
                <a:latin typeface="Calibri"/>
              </a:defRPr>
            </a:pPr>
            <a:r>
              <a:t>Auditing: Query historical execution patterns and anomalies</a:t>
            </a:r>
          </a:p>
          <a:p>
            <a:pPr>
              <a:defRPr sz="1800">
                <a:latin typeface="Calibri"/>
              </a:defRPr>
            </a:pPr>
            <a:r>
              <a:t>  - 'Show all price improvements today' - Compliance reporting</a:t>
            </a:r>
          </a:p>
          <a:p>
            <a:pPr>
              <a:defRPr sz="1800">
                <a:latin typeface="Calibri"/>
              </a:defRPr>
            </a:pPr>
            <a:r>
              <a:t>Education: Learn how matching engines work through examples</a:t>
            </a:r>
          </a:p>
          <a:p>
            <a:pPr>
              <a:defRPr sz="1800">
                <a:latin typeface="Calibri"/>
              </a:defRPr>
            </a:pPr>
            <a:r>
              <a:t>  - Students can ask questions about real executions</a:t>
            </a:r>
          </a:p>
          <a:p>
            <a:pPr>
              <a:defRPr sz="1800">
                <a:latin typeface="Calibri"/>
              </a:defRPr>
            </a:pPr>
            <a:r>
              <a:t>Documentation: Natural language search through code and logs</a:t>
            </a:r>
          </a:p>
          <a:p>
            <a:pPr>
              <a:defRPr sz="1800">
                <a:latin typeface="Calibri"/>
              </a:defRPr>
            </a:pPr>
            <a:r>
              <a:t>  - No need to grep through thousands of log lines</a:t>
            </a:r>
          </a:p>
          <a:p>
            <a:pPr>
              <a:defRPr sz="1800">
                <a:latin typeface="Calibri"/>
              </a:defRPr>
            </a:pPr>
            <a:r>
              <a:t>Performance Analysis: Identify bottlenecks from execution traces</a:t>
            </a:r>
          </a:p>
          <a:p>
            <a:pPr>
              <a:defRPr sz="1800">
                <a:latin typeface="Calibri"/>
              </a:defRPr>
            </a:pPr>
            <a:r>
              <a:t>  - 'What is the average call depth?' - Optimization insights</a:t>
            </a:r>
          </a:p>
          <a:p>
            <a:pPr>
              <a:defRPr sz="1800">
                <a:latin typeface="Calibri"/>
              </a:defRPr>
            </a:pPr>
            <a:r>
              <a:t>Testing: Verify behavior matches implementation expectations</a:t>
            </a:r>
          </a:p>
          <a:p>
            <a:pPr>
              <a:defRPr sz="1800">
                <a:latin typeface="Calibri"/>
              </a:defRPr>
            </a:pPr>
            <a:r>
              <a:t>  - 'Did order X follow price-time priority?' - 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Core Engine: Java 17, Maven 3.6+</a:t>
            </a:r>
          </a:p>
          <a:p>
            <a:pPr>
              <a:defRPr sz="1800">
                <a:latin typeface="Calibri"/>
              </a:defRPr>
            </a:pPr>
            <a:r>
              <a:t>Data Structures: TreeMap (order book), LinkedList (FIFO)</a:t>
            </a:r>
          </a:p>
          <a:p>
            <a:pPr>
              <a:defRPr sz="1800">
                <a:latin typeface="Calibri"/>
              </a:defRPr>
            </a:pPr>
            <a:r>
              <a:t>Instrumentation: Byte Buddy 1.18.4, Java Agent API</a:t>
            </a:r>
          </a:p>
          <a:p>
            <a:pPr>
              <a:defRPr sz="1800">
                <a:latin typeface="Calibri"/>
              </a:defRPr>
            </a:pPr>
            <a:r>
              <a:t>RAG Framework: LlamaIndex 0.14+</a:t>
            </a:r>
          </a:p>
          <a:p>
            <a:pPr>
              <a:defRPr sz="1800">
                <a:latin typeface="Calibri"/>
              </a:defRPr>
            </a:pPr>
            <a:r>
              <a:t>LLM: Anthropic Claude Opus 4 (claude-opus-4-20250514)</a:t>
            </a:r>
          </a:p>
          <a:p>
            <a:pPr>
              <a:defRPr sz="1800">
                <a:latin typeface="Calibri"/>
              </a:defRPr>
            </a:pPr>
            <a:r>
              <a:t>Embeddings: OpenAI text-embedding-3-small</a:t>
            </a:r>
          </a:p>
          <a:p>
            <a:pPr>
              <a:defRPr sz="1800">
                <a:latin typeface="Calibri"/>
              </a:defRPr>
            </a:pPr>
            <a:r>
              <a:t>Python: 3.12+ for RAG pipeline</a:t>
            </a:r>
          </a:p>
          <a:p>
            <a:pPr>
              <a:defRPr sz="1800">
                <a:latin typeface="Calibri"/>
              </a:defRPr>
            </a:pPr>
            <a:r>
              <a:t>CSV I/O: Standard Java libraries (no external dependencies)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Key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UUID-Based Function Identification:</a:t>
            </a:r>
          </a:p>
          <a:p>
            <a:pPr>
              <a:defRPr sz="1800">
                <a:latin typeface="Calibri"/>
              </a:defRPr>
            </a:pPr>
            <a:r>
              <a:t>  - Inlined as compile-time constants via Byte Buddy custom mapping</a:t>
            </a:r>
          </a:p>
          <a:p>
            <a:pPr>
              <a:defRPr sz="1800">
                <a:latin typeface="Calibri"/>
              </a:defRPr>
            </a:pPr>
            <a:r>
              <a:t>  - Interned strings enable reference equality on hot path</a:t>
            </a:r>
          </a:p>
          <a:p>
            <a:pPr>
              <a:defRPr sz="1800">
                <a:latin typeface="Calibri"/>
              </a:defRPr>
            </a:pPr>
            <a:r>
              <a:t>Lock-Free SPSC Ring Buffer:</a:t>
            </a:r>
          </a:p>
          <a:p>
            <a:pPr>
              <a:defRPr sz="1800">
                <a:latin typeface="Calibri"/>
              </a:defRPr>
            </a:pPr>
            <a:r>
              <a:t>  - VarHandle release/acquire, cache-line padding, batched publish</a:t>
            </a:r>
          </a:p>
          <a:p>
            <a:pPr>
              <a:defRPr sz="1800">
                <a:latin typeface="Calibri"/>
              </a:defRPr>
            </a:pPr>
            <a:r>
              <a:t>  - Async drain-thread for zero-alloc event formatting</a:t>
            </a:r>
          </a:p>
          <a:p>
            <a:pPr>
              <a:defRPr sz="1800">
                <a:latin typeface="Calibri"/>
              </a:defRPr>
            </a:pPr>
            <a:r>
              <a:t>Dual-Index RAG:</a:t>
            </a:r>
          </a:p>
          <a:p>
            <a:pPr>
              <a:defRPr sz="1800">
                <a:latin typeface="Calibri"/>
              </a:defRPr>
            </a:pPr>
            <a:r>
              <a:t>  - Separate indices for 'what happened' vs 'how it works'</a:t>
            </a:r>
          </a:p>
          <a:p>
            <a:pPr>
              <a:defRPr sz="1800">
                <a:latin typeface="Calibri"/>
              </a:defRPr>
            </a:pPr>
            <a:r>
              <a:t>Context Propagation:</a:t>
            </a:r>
          </a:p>
          <a:p>
            <a:pPr>
              <a:defRPr sz="1800">
                <a:latin typeface="Calibri"/>
              </a:defRPr>
            </a:pPr>
            <a:r>
              <a:t>  - @Advice.Local passes context between enter/exit advice</a:t>
            </a:r>
          </a:p>
          <a:p>
            <a:pPr>
              <a:defRPr sz="1800">
                <a:latin typeface="Calibri"/>
              </a:defRPr>
            </a:pPr>
            <a:r>
              <a:t>AI-Powered Analysis:</a:t>
            </a:r>
          </a:p>
          <a:p>
            <a:pPr>
              <a:defRPr sz="1800">
                <a:latin typeface="Calibri"/>
              </a:defRPr>
            </a:pPr>
            <a:r>
              <a:t>  - Natural language queries on technical execution traces</a:t>
            </a:r>
          </a:p>
          <a:p>
            <a:pPr>
              <a:defRPr sz="1800">
                <a:latin typeface="Calibri"/>
              </a:defRPr>
            </a:pPr>
            <a:r>
              <a:t>Complete Audit Trail:</a:t>
            </a:r>
          </a:p>
          <a:p>
            <a:pPr>
              <a:defRPr sz="1800">
                <a:latin typeface="Calibri"/>
              </a:defRPr>
            </a:pPr>
            <a:r>
              <a:t>  - Every event captured: ORDER_IN -&gt; CALL -&gt; EXEC_REPORT -&gt; SNAPSHOT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Demo: 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1. Prepare: Create orders.csv with sample orders</a:t>
            </a:r>
          </a:p>
          <a:p>
            <a:pPr>
              <a:defRPr sz="1800">
                <a:latin typeface="Calibri"/>
              </a:defRPr>
            </a:pPr>
            <a:r>
              <a:t>2. Build: mvn clean package (engine + agent)</a:t>
            </a:r>
          </a:p>
          <a:p>
            <a:pPr>
              <a:defRPr sz="1800">
                <a:latin typeface="Calibri"/>
              </a:defRPr>
            </a:pPr>
            <a:r>
              <a:t>3. Run with Instrumentation:</a:t>
            </a:r>
          </a:p>
          <a:p>
            <a:pPr>
              <a:defRPr sz="1800">
                <a:latin typeface="Calibri"/>
              </a:defRPr>
            </a:pPr>
            <a:r>
              <a:t>   java -javaagent:agent/target/matching-agent-1.0-SNAPSHOT.jar \</a:t>
            </a:r>
          </a:p>
          <a:p>
            <a:pPr>
              <a:defRPr sz="1800">
                <a:latin typeface="Calibri"/>
              </a:defRPr>
            </a:pPr>
            <a:r>
              <a:t>        -jar target/matching-engine-1.0-SNAPSHOT.jar</a:t>
            </a:r>
          </a:p>
          <a:p>
            <a:pPr>
              <a:defRPr sz="1800">
                <a:latin typeface="Calibri"/>
              </a:defRPr>
            </a:pPr>
            <a:r>
              <a:t>4. Output: executions.csv + instrumentation.log generated</a:t>
            </a:r>
          </a:p>
          <a:p>
            <a:pPr>
              <a:defRPr sz="1800">
                <a:latin typeface="Calibri"/>
              </a:defRPr>
            </a:pPr>
            <a:r>
              <a:t>5. Start RAG: python3 rag/rag_query.py</a:t>
            </a:r>
          </a:p>
          <a:p>
            <a:pPr>
              <a:defRPr sz="1800">
                <a:latin typeface="Calibri"/>
              </a:defRPr>
            </a:pPr>
            <a:r>
              <a:t>6. Query: Ask natural language questions</a:t>
            </a:r>
          </a:p>
          <a:p>
            <a:pPr>
              <a:defRPr sz="1800">
                <a:latin typeface="Calibri"/>
              </a:defRPr>
            </a:pPr>
            <a:r>
              <a:t>7. Analyze: Get AI-powered insights combining code + execution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Matching Engine:</a:t>
            </a:r>
          </a:p>
          <a:p>
            <a:pPr>
              <a:defRPr sz="1800">
                <a:latin typeface="Calibri"/>
              </a:defRPr>
            </a:pPr>
            <a:r>
              <a:t>  - O(log n) insertion, O(log n) best price lookup (TreeMap)</a:t>
            </a:r>
          </a:p>
          <a:p>
            <a:pPr>
              <a:defRPr sz="1800">
                <a:latin typeface="Calibri"/>
              </a:defRPr>
            </a:pPr>
            <a:r>
              <a:t>  - O(1) FIFO queue operations (LinkedList)</a:t>
            </a:r>
          </a:p>
          <a:p>
            <a:pPr>
              <a:defRPr sz="1800">
                <a:latin typeface="Calibri"/>
              </a:defRPr>
            </a:pPr>
            <a:r>
              <a:t>Instrumentation (1M orders benchmark):</a:t>
            </a:r>
          </a:p>
          <a:p>
            <a:pPr>
              <a:defRPr sz="1800">
                <a:latin typeface="Calibri"/>
              </a:defRPr>
            </a:pPr>
            <a:r>
              <a:t>  - 1.68x overhead with agent enabled (median)</a:t>
            </a:r>
          </a:p>
          <a:p>
            <a:pPr>
              <a:defRPr sz="1800">
                <a:latin typeface="Calibri"/>
              </a:defRPr>
            </a:pPr>
            <a:r>
              <a:t>  - Lock-free ring buffer + drain-thread minimize hot-path cost</a:t>
            </a:r>
          </a:p>
          <a:p>
            <a:pPr>
              <a:defRPr sz="1800">
                <a:latin typeface="Calibri"/>
              </a:defRPr>
            </a:pPr>
            <a:r>
              <a:t>  - 0% overhead when disabled (just don't use -javaagent)</a:t>
            </a:r>
          </a:p>
          <a:p>
            <a:pPr>
              <a:defRPr sz="1800">
                <a:latin typeface="Calibri"/>
              </a:defRPr>
            </a:pPr>
            <a:r>
              <a:t>RAG Pipeline:</a:t>
            </a:r>
          </a:p>
          <a:p>
            <a:pPr>
              <a:defRPr sz="1800">
                <a:latin typeface="Calibri"/>
              </a:defRPr>
            </a:pPr>
            <a:r>
              <a:t>  - Indexing: One-time cost, ~2-5 seconds for sample data</a:t>
            </a:r>
          </a:p>
          <a:p>
            <a:pPr>
              <a:defRPr sz="1800">
                <a:latin typeface="Calibri"/>
              </a:defRPr>
            </a:pPr>
            <a:r>
              <a:t>  - Queries: 2-5 seconds per query (depends on complexity)</a:t>
            </a:r>
          </a:p>
          <a:p>
            <a:pPr>
              <a:defRPr sz="1800">
                <a:latin typeface="Calibri"/>
              </a:defRPr>
            </a:pPr>
            <a:r>
              <a:t>  - Embeddings: Cached locally after first generation</a:t>
            </a:r>
          </a:p>
          <a:p>
            <a:pPr>
              <a:defRPr sz="1800">
                <a:latin typeface="Calibri"/>
              </a:defRPr>
            </a:pPr>
            <a:r>
              <a:t>  - Cost: ~$0.01-0.05 per query (Claude pricing)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Real-Time Features:</a:t>
            </a:r>
          </a:p>
          <a:p>
            <a:pPr>
              <a:defRPr sz="1800">
                <a:latin typeface="Calibri"/>
              </a:defRPr>
            </a:pPr>
            <a:r>
              <a:t>  - Streaming instrumentation events (Kafka/RabbitMQ)</a:t>
            </a:r>
          </a:p>
          <a:p>
            <a:pPr>
              <a:defRPr sz="1800">
                <a:latin typeface="Calibri"/>
              </a:defRPr>
            </a:pPr>
            <a:r>
              <a:t>  - Live RAG queries during execution (WebSocket)</a:t>
            </a:r>
          </a:p>
          <a:p>
            <a:pPr>
              <a:defRPr sz="1800">
                <a:latin typeface="Calibri"/>
              </a:defRPr>
            </a:pPr>
            <a:r>
              <a:t>Enhanced Visualization:</a:t>
            </a:r>
          </a:p>
          <a:p>
            <a:pPr>
              <a:defRPr sz="1800">
                <a:latin typeface="Calibri"/>
              </a:defRPr>
            </a:pPr>
            <a:r>
              <a:t>  - Order book depth charts in RAG responses</a:t>
            </a:r>
          </a:p>
          <a:p>
            <a:pPr>
              <a:defRPr sz="1800">
                <a:latin typeface="Calibri"/>
              </a:defRPr>
            </a:pPr>
            <a:r>
              <a:t>  - Execution timeline visualizations</a:t>
            </a:r>
          </a:p>
          <a:p>
            <a:pPr>
              <a:defRPr sz="1800">
                <a:latin typeface="Calibri"/>
              </a:defRPr>
            </a:pPr>
            <a:r>
              <a:t>Multi-Symbol Trading:</a:t>
            </a:r>
          </a:p>
          <a:p>
            <a:pPr>
              <a:defRPr sz="1800">
                <a:latin typeface="Calibri"/>
              </a:defRPr>
            </a:pPr>
            <a:r>
              <a:t>  - Symbol-specific indices for cross-symbol analysis</a:t>
            </a:r>
          </a:p>
          <a:p>
            <a:pPr>
              <a:defRPr sz="1800">
                <a:latin typeface="Calibri"/>
              </a:defRPr>
            </a:pPr>
            <a:r>
              <a:t>  - Market-wide queries across all symbols</a:t>
            </a:r>
          </a:p>
          <a:p>
            <a:pPr>
              <a:defRPr sz="1800">
                <a:latin typeface="Calibri"/>
              </a:defRPr>
            </a:pPr>
            <a:r>
              <a:t>Advanced Analytics:</a:t>
            </a:r>
          </a:p>
          <a:p>
            <a:pPr>
              <a:defRPr sz="1800">
                <a:latin typeface="Calibri"/>
              </a:defRPr>
            </a:pPr>
            <a:r>
              <a:t>  - Performance profiling (CPU, memory, latency)</a:t>
            </a:r>
          </a:p>
          <a:p>
            <a:pPr>
              <a:defRPr sz="1800">
                <a:latin typeface="Calibri"/>
              </a:defRPr>
            </a:pPr>
            <a:r>
              <a:t>  - Automated test case generation from traces</a:t>
            </a:r>
          </a:p>
          <a:p>
            <a:pPr>
              <a:defRPr sz="1800">
                <a:latin typeface="Calibri"/>
              </a:defRPr>
            </a:pPr>
            <a:r>
              <a:t>  - Anomaly detection using AI on execution patterns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Arial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[x] Production-Ready Matching Engine:</a:t>
            </a:r>
          </a:p>
          <a:p>
            <a:pPr>
              <a:defRPr sz="1800">
                <a:latin typeface="Calibri"/>
              </a:defRPr>
            </a:pPr>
            <a:r>
              <a:t>  - Price-time priority, partial fills, market/limit orders</a:t>
            </a:r>
          </a:p>
          <a:p>
            <a:pPr>
              <a:defRPr sz="1800">
                <a:latin typeface="Calibri"/>
              </a:defRPr>
            </a:pPr>
            <a:r>
              <a:t>[x] Innovative Instrumentation:</a:t>
            </a:r>
          </a:p>
          <a:p>
            <a:pPr>
              <a:defRPr sz="1800">
                <a:latin typeface="Calibri"/>
              </a:defRPr>
            </a:pPr>
            <a:r>
              <a:t>  - @FunctionMetadata annotations + Byte Buddy bytecode manipulation</a:t>
            </a:r>
          </a:p>
          <a:p>
            <a:pPr>
              <a:defRPr sz="1800">
                <a:latin typeface="Calibri"/>
              </a:defRPr>
            </a:pPr>
            <a:r>
              <a:t>  - Complete audit trail with zero code changes to core engine</a:t>
            </a:r>
          </a:p>
          <a:p>
            <a:pPr>
              <a:defRPr sz="1800">
                <a:latin typeface="Calibri"/>
              </a:defRPr>
            </a:pPr>
            <a:r>
              <a:t>[x] AI-Powered RAG Pipeline:</a:t>
            </a:r>
          </a:p>
          <a:p>
            <a:pPr>
              <a:defRPr sz="1800">
                <a:latin typeface="Calibri"/>
              </a:defRPr>
            </a:pPr>
            <a:r>
              <a:t>  - Natural language queries on both code and execution traces</a:t>
            </a:r>
          </a:p>
          <a:p>
            <a:pPr>
              <a:defRPr sz="1800">
                <a:latin typeface="Calibri"/>
              </a:defRPr>
            </a:pPr>
            <a:r>
              <a:t>  - Claude Opus 4 synthesizes answers from dual indices</a:t>
            </a:r>
          </a:p>
          <a:p>
            <a:pPr>
              <a:defRPr sz="1800">
                <a:latin typeface="Calibri"/>
              </a:defRPr>
            </a:pPr>
            <a:r>
              <a:t>[x] Educational Value:</a:t>
            </a:r>
          </a:p>
          <a:p>
            <a:pPr>
              <a:defRPr sz="1800">
                <a:latin typeface="Calibri"/>
              </a:defRPr>
            </a:pPr>
            <a:r>
              <a:t>  - Learn matching engines through real examples</a:t>
            </a:r>
          </a:p>
          <a:p>
            <a:pPr>
              <a:defRPr sz="1800">
                <a:latin typeface="Calibri"/>
              </a:defRPr>
            </a:pPr>
            <a:r>
              <a:t>  - Debugging and analysis with AI assistance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GitHub: https://github.com/spopa01/matching-engine</a:t>
            </a:r>
          </a:p>
          <a:p>
            <a:pPr>
              <a:defRPr sz="1800">
                <a:latin typeface="Calibri"/>
              </a:defRPr>
            </a:pPr>
            <a:r>
              <a:t>Demonstrates powerful synergy: Traditional Systems + Modern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Matching Engine with Instrumentation &amp; RAG Analysis</dc:title>
  <dc:subject>Order Matching Engine, Byte Buddy Instrumentation, RAG Pipeline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Technical Presentation</cp:category>
</cp:coreProperties>
</file>