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Matching Engine with Instrumentation &amp; RAG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High-Performance Order Matching with AI-Powered Query Capabilities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High-performance order matching engine in Java 17</a:t>
            </a:r>
          </a:p>
          <a:p>
            <a:pPr>
              <a:defRPr sz="1800"/>
            </a:pPr>
            <a:r>
              <a:t>Price-time priority (FIFO) matching algorithm</a:t>
            </a:r>
          </a:p>
          <a:p>
            <a:pPr>
              <a:defRPr sz="1800"/>
            </a:pPr>
            <a:r>
              <a:t>Support for LIMIT and MARKET orders with partial fills</a:t>
            </a:r>
          </a:p>
          <a:p>
            <a:pPr>
              <a:defRPr sz="1800"/>
            </a:pPr>
            <a:r>
              <a:t>Bytecode instrumentation using Byte Buddy for execution tracing</a:t>
            </a:r>
          </a:p>
          <a:p>
            <a:pPr>
              <a:defRPr sz="1800"/>
            </a:pPr>
            <a:r>
              <a:t>RAG pipeline for querying execution logs and source code</a:t>
            </a:r>
          </a:p>
          <a:p>
            <a:pPr>
              <a:defRPr sz="1800"/>
            </a:pPr>
            <a:r>
              <a:t>AI-powered analysis using LlamaIndex and Claude Opus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Core Matching Engine: Java-based order book with TreeMap</a:t>
            </a:r>
          </a:p>
          <a:p>
            <a:pPr>
              <a:defRPr sz="1800"/>
            </a:pPr>
            <a:r>
              <a:t>Java Agent: Byte Buddy instrumentation for runtime tracing</a:t>
            </a:r>
          </a:p>
          <a:p>
            <a:pPr>
              <a:defRPr sz="1800"/>
            </a:pPr>
            <a:r>
              <a:t>Annotation System: @FunctionMetadata for function identification</a:t>
            </a:r>
          </a:p>
          <a:p>
            <a:pPr>
              <a:defRPr sz="1800"/>
            </a:pPr>
            <a:r>
              <a:t>CSV I/O: Order input and execution report output</a:t>
            </a:r>
          </a:p>
          <a:p>
            <a:pPr>
              <a:defRPr sz="1800"/>
            </a:pPr>
            <a:r>
              <a:t>Instrumentation Log: Detailed execution traces with events</a:t>
            </a:r>
          </a:p>
          <a:p>
            <a:pPr>
              <a:defRPr sz="1800"/>
            </a:pPr>
            <a:r>
              <a:t>RAG Pipeline: LlamaIndex + Claude for semantic search and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Matching Engine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OrderBook: TreeMap-based data structure</a:t>
            </a:r>
          </a:p>
          <a:p>
            <a:pPr>
              <a:defRPr sz="1800"/>
            </a:pPr>
            <a:r>
              <a:t>  • Buy side: Descending order (highest price first)</a:t>
            </a:r>
          </a:p>
          <a:p>
            <a:pPr>
              <a:defRPr sz="1800"/>
            </a:pPr>
            <a:r>
              <a:t>  • Sell side: Ascending order (lowest price first)</a:t>
            </a:r>
          </a:p>
          <a:p>
            <a:pPr>
              <a:defRPr sz="1800"/>
            </a:pPr>
            <a:r>
              <a:t>  • FIFO within each price level (LinkedList)</a:t>
            </a:r>
          </a:p>
          <a:p>
            <a:pPr>
              <a:defRPr sz="1800"/>
            </a:pPr>
            <a:r>
              <a:t>MatchingEngine: Executes price-time priority matching</a:t>
            </a:r>
          </a:p>
          <a:p>
            <a:pPr>
              <a:defRPr sz="1800"/>
            </a:pPr>
            <a:r>
              <a:t>ExecutionReport: Tracks fills with cumulative quantities</a:t>
            </a:r>
          </a:p>
          <a:p>
            <a:pPr>
              <a:defRPr sz="1800"/>
            </a:pPr>
            <a:r>
              <a:t>Supports full fills, partial fills, and order cancellations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Annotation System: @FunctionMetadata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@FunctionMetadata Annotation:</a:t>
            </a:r>
            <a:br/>
            <a:br/>
            <a:r>
              <a:t>@Retention(RetentionPolicy.RUNTIME)</a:t>
            </a:r>
            <a:br/>
            <a:r>
              <a:t>@Target(ElementType.METHOD)</a:t>
            </a:r>
            <a:br/>
            <a:r>
              <a:t>public @interface FunctionMetadata {</a:t>
            </a:r>
            <a:br/>
            <a:r>
              <a:t>    String uuid();</a:t>
            </a:r>
            <a:br/>
            <a:r>
              <a:t>    String functionName();</a:t>
            </a:r>
            <a:br/>
            <a:r>
              <a:t>    String description();</a:t>
            </a:r>
            <a:br/>
            <a:r>
              <a:t>}</a:t>
            </a:r>
            <a:br/>
            <a:br/>
            <a:r>
              <a:t>Example Usage:</a:t>
            </a:r>
            <a:br/>
            <a:br/>
            <a:r>
              <a:t>@FunctionMetadata(</a:t>
            </a:r>
            <a:br/>
            <a:r>
              <a:t>    uuid = "8KGyw9TlT1prfI2eDxorPA",</a:t>
            </a:r>
            <a:br/>
            <a:r>
              <a:t>    functionName = "addOrder",</a:t>
            </a:r>
            <a:br/>
            <a:r>
              <a:t>    description = "Main entry point for processing incoming orders..."</a:t>
            </a:r>
            <a:br/>
            <a:r>
              <a:t>)</a:t>
            </a:r>
            <a:br/>
            <a:r>
              <a:t>public List&lt;ExecutionReport&gt; addOrder(Order order) {</a:t>
            </a:r>
            <a:br/>
            <a:r>
              <a:t>    // Matching logic</a:t>
            </a:r>
            <a:br/>
            <a:r>
              <a:t>}</a:t>
            </a:r>
            <a:br/>
            <a:br/>
            <a:r>
              <a:t>Benefits:</a:t>
            </a:r>
            <a:br/>
            <a:r>
              <a:t>• Unique UUID identification for each function</a:t>
            </a:r>
            <a:br/>
            <a:r>
              <a:t>• Runtime introspection for instrumentation</a:t>
            </a:r>
            <a:br/>
            <a:r>
              <a:t>• Self-documenting code with descriptions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Instrumentation with Byte Buddy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Java Agent intercepts method calls at runtime</a:t>
            </a:r>
          </a:p>
          <a:p>
            <a:pPr>
              <a:defRPr sz="1800"/>
            </a:pPr>
            <a:r>
              <a:t>Uses Byte Buddy for bytecode manipulation</a:t>
            </a:r>
          </a:p>
          <a:p>
            <a:pPr>
              <a:defRPr sz="1800"/>
            </a:pPr>
            <a:r>
              <a:t>Captures execution events without modifying source code</a:t>
            </a:r>
          </a:p>
          <a:p>
            <a:pPr>
              <a:defRPr sz="1800"/>
            </a:pPr>
            <a:r>
              <a:t>Thread-local context for order ID propagation</a:t>
            </a:r>
          </a:p>
          <a:p>
            <a:pPr>
              <a:defRPr sz="1800"/>
            </a:pPr>
            <a:r>
              <a:t>Call depth tracking for hierarchical traces</a:t>
            </a:r>
          </a:p>
          <a:p>
            <a:pPr>
              <a:defRPr sz="1800"/>
            </a:pPr>
            <a:r>
              <a:t>Zero performance impact on production when disabled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Instrumentation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Event Types Captured:</a:t>
            </a:r>
            <a:br/>
            <a:br/>
            <a:r>
              <a:t>1. ORDER_IN - Incoming order details</a:t>
            </a:r>
            <a:br/>
            <a:r>
              <a:t>   Format: orderId | side | orderType | qty | price</a:t>
            </a:r>
            <a:br/>
            <a:br/>
            <a:r>
              <a:t>2. CALL - Function invocation with UUID</a:t>
            </a:r>
            <a:br/>
            <a:r>
              <a:t>   Format: functionUuid (from @FunctionMetadata)</a:t>
            </a:r>
            <a:br/>
            <a:br/>
            <a:r>
              <a:t>3. EXEC_REPORT - Trade execution details</a:t>
            </a:r>
            <a:br/>
            <a:r>
              <a:t>   Format: orderId | side | executionType | qty | lastQty | cumQty | price</a:t>
            </a:r>
            <a:br/>
            <a:br/>
            <a:r>
              <a:t>4. BOOK_ADD - Order added to book</a:t>
            </a:r>
            <a:br/>
            <a:r>
              <a:t>   Format: orderId | side | price | remainingQty | cumQty</a:t>
            </a:r>
            <a:br/>
            <a:br/>
            <a:r>
              <a:t>5. SNAPSHOT - Order book state</a:t>
            </a:r>
            <a:br/>
            <a:r>
              <a:t>   Format: Buy: [price@orderId:qty, ...] Sell: [price@orderId:qty, ...]</a:t>
            </a:r>
            <a:br/>
            <a:br/>
            <a:r>
              <a:t>Example Log Entry:</a:t>
            </a:r>
            <a:br/>
            <a:r>
              <a:t>2025-02-15T10:30:15.123Z | VQ6EAOKbQdSnFkRmVUQAAA | ORDER_IN |</a:t>
            </a:r>
            <a:br/>
            <a:r>
              <a:t>  VQ6EAOKbQdSnFkRmVUQAAA | BUY | LIMIT | qty=10 | price=100.50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Pipeline: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Dual-Index System:</a:t>
            </a:r>
          </a:p>
          <a:p>
            <a:pPr>
              <a:defRPr sz="1800"/>
            </a:pPr>
            <a:r>
              <a:t>  1. Instrumentation Log Index - Execution traces</a:t>
            </a:r>
          </a:p>
          <a:p>
            <a:pPr>
              <a:defRPr sz="1800"/>
            </a:pPr>
            <a:r>
              <a:t>  2. Source Code Index - Java implementation files</a:t>
            </a:r>
          </a:p>
          <a:p>
            <a:pPr>
              <a:defRPr sz="1800"/>
            </a:pPr>
            <a:r>
              <a:t>LlamaIndex: RAG framework for indexing and retrieval</a:t>
            </a:r>
          </a:p>
          <a:p>
            <a:pPr>
              <a:defRPr sz="1800"/>
            </a:pPr>
            <a:r>
              <a:t>OpenAI Embeddings: text-embedding-3-small for vector search</a:t>
            </a:r>
          </a:p>
          <a:p>
            <a:pPr>
              <a:defRPr sz="1800"/>
            </a:pPr>
            <a:r>
              <a:t>Claude Opus 4: Anthropic's LLM for query answering</a:t>
            </a:r>
          </a:p>
          <a:p>
            <a:pPr>
              <a:defRPr sz="1800"/>
            </a:pPr>
            <a:r>
              <a:t>Three Query Modes: /instr, /code, /both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RAG Pipeline: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RAG Pipeline Components:</a:t>
            </a:r>
            <a:br/>
            <a:br/>
            <a:r>
              <a:t>class MatchingEngineRAG:</a:t>
            </a:r>
            <a:br/>
            <a:r>
              <a:t>    def __init__(self):</a:t>
            </a:r>
            <a:br/>
            <a:r>
              <a:t>        # LLM: Claude Opus 4</a:t>
            </a:r>
            <a:br/>
            <a:r>
              <a:t>        Settings.llm = Anthropic(</a:t>
            </a:r>
            <a:br/>
            <a:r>
              <a:t>            model="claude-opus-4-20250514",</a:t>
            </a:r>
            <a:br/>
            <a:r>
              <a:t>            temperature=0.1</a:t>
            </a:r>
            <a:br/>
            <a:r>
              <a:t>        )</a:t>
            </a:r>
            <a:br/>
            <a:br/>
            <a:r>
              <a:t>        # Embeddings: OpenAI</a:t>
            </a:r>
            <a:br/>
            <a:r>
              <a:t>        Settings.embed_model = OpenAIEmbedding(</a:t>
            </a:r>
            <a:br/>
            <a:r>
              <a:t>            model="text-embedding-3-small"</a:t>
            </a:r>
            <a:br/>
            <a:r>
              <a:t>        )</a:t>
            </a:r>
            <a:br/>
            <a:br/>
            <a:r>
              <a:t>    # Index instrumentation log</a:t>
            </a:r>
            <a:br/>
            <a:r>
              <a:t>    def index_instrumentation_log(self, log_path)</a:t>
            </a:r>
            <a:br/>
            <a:br/>
            <a:r>
              <a:t>    # Index Java source code</a:t>
            </a:r>
            <a:br/>
            <a:r>
              <a:t>    def index_source_code(self, source_dirs)</a:t>
            </a:r>
            <a:br/>
            <a:br/>
            <a:r>
              <a:t>    # Query methods</a:t>
            </a:r>
            <a:br/>
            <a:r>
              <a:t>    def query_instrumentation(self, query) -&gt; str</a:t>
            </a:r>
            <a:br/>
            <a:r>
              <a:t>    def query_code(self, query) -&gt; str</a:t>
            </a:r>
            <a:br/>
            <a:r>
              <a:t>    def query_both(self, query) -&gt; str  # Synthesized answer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Query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Instrumentation Queries (/instr):</a:t>
            </a:r>
          </a:p>
          <a:p>
            <a:pPr>
              <a:defRPr sz="1800"/>
            </a:pPr>
            <a:r>
              <a:t>  • What happened? Execution traces, order flow, trade history</a:t>
            </a:r>
          </a:p>
          <a:p>
            <a:pPr>
              <a:defRPr sz="1800"/>
            </a:pPr>
            <a:r>
              <a:t>  • Debugging: Trace specific orders through the system</a:t>
            </a:r>
          </a:p>
          <a:p>
            <a:pPr>
              <a:defRPr sz="1800"/>
            </a:pPr>
            <a:r>
              <a:t>  • Analysis: Market microstructure, order book dynamics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Code Queries (/code):</a:t>
            </a:r>
          </a:p>
          <a:p>
            <a:pPr>
              <a:defRPr sz="1800"/>
            </a:pPr>
            <a:r>
              <a:t>  • How does it work? Algorithm details, data structures</a:t>
            </a:r>
          </a:p>
          <a:p>
            <a:pPr>
              <a:defRPr sz="1800"/>
            </a:pPr>
            <a:r>
              <a:t>  • Architecture: Component interactions, design patterns</a:t>
            </a:r>
          </a:p>
          <a:p>
            <a:pPr>
              <a:defRPr sz="1800"/>
            </a:pPr>
            <a:r>
              <a:t>  • Learning: Understand matching engine implementation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Combined Queries (/both):</a:t>
            </a:r>
          </a:p>
          <a:p>
            <a:pPr>
              <a:defRPr sz="1800"/>
            </a:pPr>
            <a:r>
              <a:t>  • Why? Connect execution behavior to code logic</a:t>
            </a:r>
          </a:p>
          <a:p>
            <a:pPr>
              <a:defRPr sz="1800"/>
            </a:pPr>
            <a:r>
              <a:t>  • Validation: Verify implementation matches behavior</a:t>
            </a:r>
          </a:p>
          <a:p>
            <a:pPr>
              <a:defRPr sz="1800"/>
            </a:pPr>
            <a:r>
              <a:t>  • Deep analysis: Theory + practice together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Instrumentation Query #1: Order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"What orders were executed and at what prices?"</a:t>
            </a:r>
            <a:br/>
            <a:br/>
            <a:r>
              <a:t>Answer from RAG Pipeline (/instr):</a:t>
            </a:r>
            <a:br/>
            <a:br/>
            <a:r>
              <a:t>Based on the instrumentation log, the following executions occurred:</a:t>
            </a:r>
            <a:br/>
            <a:br/>
            <a:r>
              <a:t>1. Order VQ6EAOKbQdSnFkRmVUQAAw (SELL, 8 units)</a:t>
            </a:r>
            <a:br/>
            <a:r>
              <a:t>   • Execution: FULL_FILL at price 100.60</a:t>
            </a:r>
            <a:br/>
            <a:r>
              <a:t>   • Matched against order VQ6EAOKbQdSnFkRmVUQAAg (BUY)</a:t>
            </a:r>
            <a:br/>
            <a:r>
              <a:t>   • Buyer paid 100.60 (seller's limit was 100.55)</a:t>
            </a:r>
            <a:br/>
            <a:br/>
            <a:r>
              <a:t>2. Order VQ6EAOKbQdSnFkRmVUQAAg (BUY, 15 units)</a:t>
            </a:r>
            <a:br/>
            <a:r>
              <a:t>   • Execution: PARTIAL_FILL, 8 units filled at 100.60</a:t>
            </a:r>
            <a:br/>
            <a:r>
              <a:t>   • Remaining quantity: 7 units (stayed in book at 100.60)</a:t>
            </a:r>
            <a:br/>
            <a:r>
              <a:t>   • Cumulative filled: 8 units</a:t>
            </a:r>
            <a:br/>
            <a:br/>
            <a:r>
              <a:t>3. Order VQ6EAOKbQdSnFkRmVUQABA (BUY MARKET, 12 units)</a:t>
            </a:r>
            <a:br/>
            <a:r>
              <a:t>   • First fill: PARTIAL_FILL, 5 units at 100.75</a:t>
            </a:r>
            <a:br/>
            <a:r>
              <a:t>   • Matched against VQ6EAOKbQdSnFkRmVUQAAQ (SELL)</a:t>
            </a:r>
            <a:br/>
            <a:r>
              <a:t>   • Final: CANCEL with 7 units unfilled (insufficient liquidity)</a:t>
            </a:r>
            <a:br/>
            <a:r>
              <a:t>   • Total filled: 5 units at 100.75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Instrumentation Query #2: Order Book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"What was the order book state after order VQ6EAOKbQdSnFkRmVUQAAw?"</a:t>
            </a:r>
            <a:br/>
            <a:br/>
            <a:r>
              <a:t>Answer from RAG Pipeline (/instr):</a:t>
            </a:r>
            <a:br/>
            <a:br/>
            <a:r>
              <a:t>After processing order VQ6EAOKbQdSnFkRmVUQAAw (SELL LIMIT, 8 units at 100.55),</a:t>
            </a:r>
            <a:br/>
            <a:r>
              <a:t>the SNAPSHOT event shows:</a:t>
            </a:r>
            <a:br/>
            <a:br/>
            <a:r>
              <a:t>Buy Side (descending by price):</a:t>
            </a:r>
            <a:br/>
            <a:r>
              <a:t>  • 100.60: Order VQ6EAOKbQdSnFkRmVUQAAg with 7 units remaining</a:t>
            </a:r>
            <a:br/>
            <a:r>
              <a:t>    (originally 15, partially filled by VQ6EAOKbQdSnFkRmVUQAAw)</a:t>
            </a:r>
            <a:br/>
            <a:r>
              <a:t>  • 100.50: Order VQ6EAOKbQdSnFkRmVUQAAA with 10 units</a:t>
            </a:r>
            <a:br/>
            <a:r>
              <a:t>    (resting since first order, no matches yet)</a:t>
            </a:r>
            <a:br/>
            <a:br/>
            <a:r>
              <a:t>Sell Side (ascending by price):</a:t>
            </a:r>
            <a:br/>
            <a:r>
              <a:t>  • 100.75: Order VQ6EAOKbQdSnFkRmVUQAAQ with 5 units</a:t>
            </a:r>
            <a:br/>
            <a:r>
              <a:t>    (resting, waiting for buyers at that price)</a:t>
            </a:r>
            <a:br/>
            <a:br/>
            <a:r>
              <a:t>Key Insight: Order VQ6EAOKbQdSnFkRmVUQAAw fully executed against the</a:t>
            </a:r>
            <a:br/>
            <a:r>
              <a:t>best buy order (VQ6EAOKbQdSnFkRmVUQAAg at 100.60) because 100.60 ≥ 100.55.</a:t>
            </a:r>
            <a:br/>
            <a:r>
              <a:t>The seller got better price than their limit!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Instrumentation Query #3: Function Call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"What functions were called when processing order VQ6EAOKbQdSnFkRmVUQAAw?"</a:t>
            </a:r>
            <a:br/>
            <a:br/>
            <a:r>
              <a:t>Answer from RAG Pipeline (/instr):</a:t>
            </a:r>
            <a:br/>
            <a:br/>
            <a:r>
              <a:t>Call Stack Trace (indentation shows call depth):</a:t>
            </a:r>
            <a:br/>
            <a:br/>
            <a:r>
              <a:t>1. addOrder (8KGyw9TlT1prfI2eDxorPA) - Entry point</a:t>
            </a:r>
            <a:br/>
            <a:r>
              <a:t>  2. matchSellOrder (ssPU5fanS1yNng8aKzxNXg) - Match against buy side</a:t>
            </a:r>
            <a:br/>
            <a:r>
              <a:t>    3. getBestBuy (qbDB0uP0Slt8jZ4PGis8TQ) - Get best bid</a:t>
            </a:r>
            <a:br/>
            <a:r>
              <a:t>    3. executeMatch (w9Tl9qe4TF2eDxorPE1ebw) - Execute the trade</a:t>
            </a:r>
            <a:br/>
            <a:r>
              <a:t>      4. recordExecutionReport (5_al9qe4TF2eDxorPE1eaw) - Record seller report</a:t>
            </a:r>
            <a:br/>
            <a:r>
              <a:t>        → EXEC_REPORT: VQ6EAOKbQdSnFkRmVUQAAw FULL_FILL 8@100.60</a:t>
            </a:r>
            <a:br/>
            <a:r>
              <a:t>      4. recordExecutionReport (5_al9qe4TF2eDxorPE1eaw) - Record buyer report</a:t>
            </a:r>
            <a:br/>
            <a:r>
              <a:t>        → EXEC_REPORT: VQ6EAOKbQdSnFkRmVUQAAg PARTIAL_FILL 8@100.60</a:t>
            </a:r>
            <a:br/>
            <a:r>
              <a:t>  → SNAPSHOT: Updated order book state</a:t>
            </a:r>
            <a:br/>
            <a:br/>
            <a:r>
              <a:t>The function UUIDs map to specific methods via @FunctionMetadata annotations.</a:t>
            </a:r>
            <a:br/>
            <a:r>
              <a:t>This trace shows the complete execution path through the matching engine.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Code Query #1: Matching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"How does the price-time priority matching algorithm work?"</a:t>
            </a:r>
            <a:br/>
            <a:br/>
            <a:r>
              <a:t>Answer from RAG Pipeline (/code):</a:t>
            </a:r>
            <a:br/>
            <a:br/>
            <a:r>
              <a:t>The matching engine implements price-time priority through a two-level structure:</a:t>
            </a:r>
            <a:br/>
            <a:br/>
            <a:r>
              <a:t>1. Price Priority (TreeMap):</a:t>
            </a:r>
            <a:br/>
            <a:r>
              <a:t>   • Buy side: TreeMap with DESCENDING order (highest price first)</a:t>
            </a:r>
            <a:br/>
            <a:r>
              <a:t>   • Sell side: TreeMap with ASCENDING order (lowest price first)</a:t>
            </a:r>
            <a:br/>
            <a:r>
              <a:t>   • This ensures best bid/ask are always at firstEntry()</a:t>
            </a:r>
            <a:br/>
            <a:br/>
            <a:r>
              <a:t>2. Time Priority (LinkedList):</a:t>
            </a:r>
            <a:br/>
            <a:r>
              <a:t>   • Each price level contains a LinkedList&lt;Order&gt;</a:t>
            </a:r>
            <a:br/>
            <a:r>
              <a:t>   • Orders are added to the tail, removed from the head (FIFO)</a:t>
            </a:r>
            <a:br/>
            <a:r>
              <a:t>   • First order at a price level gets matched first</a:t>
            </a:r>
            <a:br/>
            <a:br/>
            <a:r>
              <a:t>Matching Logic (from MatchingEngine.executeMatch):</a:t>
            </a:r>
            <a:br/>
            <a:r>
              <a:t>   long fillQuantity = Math.min(</a:t>
            </a:r>
            <a:br/>
            <a:r>
              <a:t>       incomingOrder.getRemainingQuantity(),</a:t>
            </a:r>
            <a:br/>
            <a:r>
              <a:t>       restingOrder.getRemainingQuantity()</a:t>
            </a:r>
            <a:br/>
            <a:r>
              <a:t>   );</a:t>
            </a:r>
            <a:br/>
            <a:r>
              <a:t>   // Execute at resting order's price (maker price advantage)</a:t>
            </a:r>
            <a:br/>
            <a:r>
              <a:t>   BigDecimal executionPrice = restingOrder.getPrice();</a:t>
            </a:r>
            <a:br/>
            <a:br/>
            <a:r>
              <a:t>This ensures: Best prices matched first, then earliest orders within each price.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Code Query #2: Order Book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"Explain the OrderBook data structure and why TreeMap was chosen."</a:t>
            </a:r>
            <a:br/>
            <a:br/>
            <a:r>
              <a:t>Answer from RAG Pipeline (/code):</a:t>
            </a:r>
            <a:br/>
            <a:br/>
            <a:r>
              <a:t>OrderBook.java uses TreeMap for efficient price-level operations:</a:t>
            </a:r>
            <a:br/>
            <a:br/>
            <a:r>
              <a:t>private final TreeMap&lt;BigDecimal, LinkedList&lt;Order&gt;&gt; buySide;</a:t>
            </a:r>
            <a:br/>
            <a:r>
              <a:t>private final TreeMap&lt;BigDecimal, LinkedList&lt;Order&gt;&gt; sellSide;</a:t>
            </a:r>
            <a:br/>
            <a:br/>
            <a:r>
              <a:t>Constructor:</a:t>
            </a:r>
            <a:br/>
            <a:r>
              <a:t>  buySide = new TreeMap&lt;&gt;(Comparator.reverseOrder());  // Descending</a:t>
            </a:r>
            <a:br/>
            <a:r>
              <a:t>  sellSide = new TreeMap&lt;&gt;();  // Natural ascending order</a:t>
            </a:r>
            <a:br/>
            <a:br/>
            <a:r>
              <a:t>Why TreeMap?</a:t>
            </a:r>
            <a:br/>
            <a:r>
              <a:t>  • O(log n) insertion, deletion, and search</a:t>
            </a:r>
            <a:br/>
            <a:r>
              <a:t>  • firstEntry() gives best bid/ask in O(log n)</a:t>
            </a:r>
            <a:br/>
            <a:r>
              <a:t>  • Maintains sorted order automatically</a:t>
            </a:r>
            <a:br/>
            <a:r>
              <a:t>  • Efficient range queries for price levels</a:t>
            </a:r>
            <a:br/>
            <a:br/>
            <a:r>
              <a:t>Why LinkedList for each price level?</a:t>
            </a:r>
            <a:br/>
            <a:r>
              <a:t>  • O(1) insertion at tail (add new order)</a:t>
            </a:r>
            <a:br/>
            <a:r>
              <a:t>  • O(1) removal from head (match oldest order)</a:t>
            </a:r>
            <a:br/>
            <a:r>
              <a:t>  • Preserves time priority (FIFO) within price level</a:t>
            </a:r>
            <a:br/>
            <a:r>
              <a:t>  • No random access needed</a:t>
            </a:r>
            <a:br/>
            <a:br/>
            <a:r>
              <a:t>This combination provides optimal performance for matching operations.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Code Query #3: @FunctionMetadata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"What is the @FunctionMetadata annotation and how is it used?"</a:t>
            </a:r>
            <a:br/>
            <a:br/>
            <a:r>
              <a:t>Answer from RAG Pipeline (/code):</a:t>
            </a:r>
            <a:br/>
            <a:br/>
            <a:r>
              <a:t>@FunctionMetadata is a custom annotation defined in the codebase:</a:t>
            </a:r>
            <a:br/>
            <a:br/>
            <a:r>
              <a:t>@Retention(RetentionPolicy.RUNTIME)  // Available at runtime</a:t>
            </a:r>
            <a:br/>
            <a:r>
              <a:t>@Target(ElementType.METHOD)          // Applied to methods</a:t>
            </a:r>
            <a:br/>
            <a:r>
              <a:t>public @interface FunctionMetadata {</a:t>
            </a:r>
            <a:br/>
            <a:r>
              <a:t>    String uuid();          // Unique Base64-encoded identifier</a:t>
            </a:r>
            <a:br/>
            <a:r>
              <a:t>    String functionName();  // Human-readable name</a:t>
            </a:r>
            <a:br/>
            <a:r>
              <a:t>    String description();   // Detailed business logic description</a:t>
            </a:r>
            <a:br/>
            <a:r>
              <a:t>}</a:t>
            </a:r>
            <a:br/>
            <a:br/>
            <a:r>
              <a:t>Usage Example (from MatchingEngine.java):</a:t>
            </a:r>
            <a:br/>
            <a:br/>
            <a:r>
              <a:t>@FunctionMetadata(</a:t>
            </a:r>
            <a:br/>
            <a:r>
              <a:t>    uuid = "w9Tl9qe4TF2eDxorPE1ebw",</a:t>
            </a:r>
            <a:br/>
            <a:r>
              <a:t>    functionName = "executeMatch",</a:t>
            </a:r>
            <a:br/>
            <a:r>
              <a:t>    description = "Executes a trade between an incoming order and a</a:t>
            </a:r>
            <a:br/>
            <a:r>
              <a:t>                   resting order, generating execution reports..."</a:t>
            </a:r>
            <a:br/>
            <a:r>
              <a:t>)</a:t>
            </a:r>
            <a:br/>
            <a:r>
              <a:t>private void executeMatch(Order incomingOrder, Order restingOrder)</a:t>
            </a:r>
            <a:br/>
            <a:br/>
            <a:r>
              <a:t>Benefits:</a:t>
            </a:r>
            <a:br/>
            <a:r>
              <a:t>  • Runtime introspection for instrumentation agent</a:t>
            </a:r>
            <a:br/>
            <a:r>
              <a:t>  • Stable UUID identification across refactoring</a:t>
            </a:r>
            <a:br/>
            <a:r>
              <a:t>  • Self-documenting code with business logic descriptions</a:t>
            </a:r>
            <a:br/>
            <a:r>
              <a:t>  • Enables automatic function metadata export to logs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Combined Query #1: Order Processing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"Explain exactly how order VQ6EAOKbQdSnFkRmVUQAAw was processed."</a:t>
            </a:r>
            <a:br/>
            <a:br/>
            <a:r>
              <a:t>Answer from RAG Pipeline (/both - Synthesized):</a:t>
            </a:r>
            <a:br/>
            <a:br/>
            <a:r>
              <a:t>Order Details (from instrumentation):</a:t>
            </a:r>
            <a:br/>
            <a:r>
              <a:t>  • VQ6EAOKbQdSnFkRmVUQAAw: SELL LIMIT, 8 units at 100.55</a:t>
            </a:r>
            <a:br/>
            <a:br/>
            <a:r>
              <a:t>Processing Flow (combining code + logs):</a:t>
            </a:r>
            <a:br/>
            <a:br/>
            <a:r>
              <a:t>1. Entry (MatchingEngine.addOrder - UUID: 8KGyw9TlT1prfI2eDxorPA):</a:t>
            </a:r>
            <a:br/>
            <a:r>
              <a:t>   Code shows: Routes SELL orders to matchSellOrder()</a:t>
            </a:r>
            <a:br/>
            <a:r>
              <a:t>   Log shows: CALL event at 2026-02-16T00:52:31.403997Z</a:t>
            </a:r>
            <a:br/>
            <a:br/>
            <a:r>
              <a:t>2. Matching (matchSellOrder - UUID: ssPU5fanS1yNng8aKzxNXg):</a:t>
            </a:r>
            <a:br/>
            <a:r>
              <a:t>   Code shows: Loops through buy side while remainingQty &gt; 0</a:t>
            </a:r>
            <a:br/>
            <a:r>
              <a:t>               Stops when best buy price &lt; sell limit price</a:t>
            </a:r>
            <a:br/>
            <a:r>
              <a:t>   Log shows: Called getBestBuy, found VQ6EAOKbQdSnFkRmVUQAAg at 100.60</a:t>
            </a:r>
            <a:br/>
            <a:br/>
            <a:r>
              <a:t>3. Price Check: 100.60 (best buy) ≥ 100.55 (sell limit) → CAN MATCH</a:t>
            </a:r>
            <a:br/>
            <a:br/>
            <a:r>
              <a:t>4. Execution (executeMatch - UUID: w9Tl9qe4TF2eDxorPE1ebw):</a:t>
            </a:r>
            <a:br/>
            <a:r>
              <a:t>   Code shows: fillQty = min(8, 15) = 8</a:t>
            </a:r>
            <a:br/>
            <a:r>
              <a:t>               executionPrice = 100.60 (resting order's price)</a:t>
            </a:r>
            <a:br/>
            <a:r>
              <a:t>   Log shows: Two EXEC_REPORT events generated</a:t>
            </a:r>
            <a:br/>
            <a:br/>
            <a:r>
              <a:t>5. Result: Seller filled all 8 units at 100.60 (better than 100.55 limit!)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Combined Query #2: Market Order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"Why did market order VQ6EAOKbQdSnFkRmVUQABA partially fill</a:t>
            </a:r>
            <a:br/>
            <a:r>
              <a:t>            then cancel?"</a:t>
            </a:r>
            <a:br/>
            <a:br/>
            <a:r>
              <a:t>Answer from RAG Pipeline (/both - Synthesized):</a:t>
            </a:r>
            <a:br/>
            <a:br/>
            <a:r>
              <a:t>Order Details:</a:t>
            </a:r>
            <a:br/>
            <a:r>
              <a:t>  • VQ6EAOKbQdSnFkRmVUQABA: BUY MARKET, 12 units, no price limit</a:t>
            </a:r>
            <a:br/>
            <a:br/>
            <a:r>
              <a:t>Code Logic (MatchingEngine.matchBuyOrder):</a:t>
            </a:r>
            <a:br/>
            <a:r>
              <a:t>  For MARKET orders:</a:t>
            </a:r>
            <a:br/>
            <a:r>
              <a:t>    • Continue matching while remainingQuantity &gt; 0 AND sellSide not empty</a:t>
            </a:r>
            <a:br/>
            <a:r>
              <a:t>    • No price check (market orders accept any price)</a:t>
            </a:r>
            <a:br/>
            <a:r>
              <a:t>    • If unfilled after exhausting liquidity → CANCEL</a:t>
            </a:r>
            <a:br/>
            <a:br/>
            <a:r>
              <a:t>Execution Trace (from logs):</a:t>
            </a:r>
            <a:br/>
            <a:r>
              <a:t>  1. sMHS4_SlS1yNng8aKzxNXg (getBestSell) → Found VQ6EAOKbQdSnFkRmVUQAAQ</a:t>
            </a:r>
            <a:br/>
            <a:r>
              <a:t>  2. executeMatch → Filled 5 units at 100.75</a:t>
            </a:r>
            <a:br/>
            <a:r>
              <a:t>     EXEC_REPORT: PARTIAL_FILL, cumQty=5, remaining=7</a:t>
            </a:r>
            <a:br/>
            <a:r>
              <a:t>  3. removeOrder (4_SltsfYTl8aKzxNXm96iw) → Removed fully filled sell order</a:t>
            </a:r>
            <a:br/>
            <a:r>
              <a:t>  4. sMHS4_SlS1yNng8aKzxNXg → No more sell orders (returns null)</a:t>
            </a:r>
            <a:br/>
            <a:r>
              <a:t>  5. recordExecutionReport → CANCEL with lastQty=7 (unfilled)</a:t>
            </a:r>
            <a:br/>
            <a:br/>
            <a:r>
              <a:t>Why CANCEL?</a:t>
            </a:r>
            <a:br/>
            <a:r>
              <a:t>  Code shows: Market orders with remaining quantity log a warning and</a:t>
            </a:r>
            <a:br/>
            <a:r>
              <a:t>              generate CANCEL execution report (insufficient liquidity)</a:t>
            </a:r>
            <a:br/>
            <a:r>
              <a:t>  This prevents market orders from resting in the book.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Combined Query #3: Price Improvement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"Show me examples where orders got better prices than their limits."</a:t>
            </a:r>
            <a:br/>
            <a:br/>
            <a:r>
              <a:t>Answer from RAG Pipeline (/both - Synthesized):</a:t>
            </a:r>
            <a:br/>
            <a:br/>
            <a:r>
              <a:t>Price Improvement Mechanism (from code):</a:t>
            </a:r>
            <a:br/>
            <a:r>
              <a:t>  In executeMatch(), execution price = restingOrder.getPrice()</a:t>
            </a:r>
            <a:br/>
            <a:r>
              <a:t>  This gives "maker price advantage" - the resting order's price is used.</a:t>
            </a:r>
            <a:br/>
            <a:br/>
            <a:r>
              <a:t>Example from Logs:</a:t>
            </a:r>
            <a:br/>
            <a:br/>
            <a:r>
              <a:t>Order VQ6EAOKbQdSnFkRmVUQAAw:</a:t>
            </a:r>
            <a:br/>
            <a:r>
              <a:t>  • Placed: SELL LIMIT at 100.55 (willing to sell at this price or higher)</a:t>
            </a:r>
            <a:br/>
            <a:r>
              <a:t>  • Matched: Against buy order at 100.60</a:t>
            </a:r>
            <a:br/>
            <a:r>
              <a:t>  • Executed: At 100.60 (0.05 price improvement!)</a:t>
            </a:r>
            <a:br/>
            <a:r>
              <a:t>  • Reason: Buyer was resting at 100.60, so seller got the better price</a:t>
            </a:r>
            <a:br/>
            <a:br/>
            <a:r>
              <a:t>Why This Happens:</a:t>
            </a:r>
            <a:br/>
            <a:r>
              <a:t>  Code (matchSellOrder): Checks if bestBuyPrice &gt;= sellLimitPrice</a:t>
            </a:r>
            <a:br/>
            <a:r>
              <a:t>  • If 100.60 &gt;= 100.55 → MATCH at 100.60 (resting buy order's price)</a:t>
            </a:r>
            <a:br/>
            <a:r>
              <a:t>  • Seller benefits from buyer's higher limit price</a:t>
            </a:r>
            <a:br/>
            <a:r>
              <a:t>  • This rewards liquidity providers (makers) over takers</a:t>
            </a:r>
            <a:br/>
            <a:br/>
            <a:r>
              <a:t>Price-Time Priority:</a:t>
            </a:r>
            <a:br/>
            <a:r>
              <a:t>  1. Best prices matched first (price priority)</a:t>
            </a:r>
            <a:br/>
            <a:r>
              <a:t>  2. Within price level, oldest orders first (time priority)</a:t>
            </a:r>
            <a:br/>
            <a:r>
              <a:t>  3. Execution at resting order's price (maker advantage)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Query Capabilities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Instrumentation Queries Answer:</a:t>
            </a:r>
          </a:p>
          <a:p>
            <a:pPr>
              <a:defRPr sz="1800"/>
            </a:pPr>
            <a:r>
              <a:t>  • What happened? (execution history, order flow)</a:t>
            </a:r>
          </a:p>
          <a:p>
            <a:pPr>
              <a:defRPr sz="1800"/>
            </a:pPr>
            <a:r>
              <a:t>  • When? (timestamps, sequence of events)</a:t>
            </a:r>
          </a:p>
          <a:p>
            <a:pPr>
              <a:defRPr sz="1800"/>
            </a:pPr>
            <a:r>
              <a:t>  • Who? (specific order IDs and their journey)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Code Queries Answer:</a:t>
            </a:r>
          </a:p>
          <a:p>
            <a:pPr>
              <a:defRPr sz="1800"/>
            </a:pPr>
            <a:r>
              <a:t>  • How does it work? (algorithms, data structures)</a:t>
            </a:r>
          </a:p>
          <a:p>
            <a:pPr>
              <a:defRPr sz="1800"/>
            </a:pPr>
            <a:r>
              <a:t>  • Why this design? (architecture decisions)</a:t>
            </a:r>
          </a:p>
          <a:p>
            <a:pPr>
              <a:defRPr sz="1800"/>
            </a:pPr>
            <a:r>
              <a:t>  • What are the rules? (business logic, validations)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Combined Queries Answer:</a:t>
            </a:r>
          </a:p>
          <a:p>
            <a:pPr>
              <a:defRPr sz="1800"/>
            </a:pPr>
            <a:r>
              <a:t>  • Why did X happen? (connect behavior to code)</a:t>
            </a:r>
          </a:p>
          <a:p>
            <a:pPr>
              <a:defRPr sz="1800"/>
            </a:pPr>
            <a:r>
              <a:t>  • Is the implementation correct? (verify against spec)</a:t>
            </a:r>
          </a:p>
          <a:p>
            <a:pPr>
              <a:defRPr sz="1800"/>
            </a:pPr>
            <a:r>
              <a:t>  • How would Y be different? (counterfactual analysis)</a:t>
            </a:r>
          </a:p>
          <a:p>
            <a:pPr>
              <a:defRPr sz="1800"/>
            </a:pPr>
            <a:r>
              <a:t>  • Teach me by example (theory + real execution traces)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More RAG Query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Debugging Queries:</a:t>
            </a:r>
            <a:br/>
            <a:r>
              <a:t>  • "Which orders are still resting in the book?"</a:t>
            </a:r>
            <a:br/>
            <a:r>
              <a:t>  • "Why didn't order X match with order Y?"</a:t>
            </a:r>
            <a:br/>
            <a:r>
              <a:t>  • "Show me all partial fills and their cumulative quantities"</a:t>
            </a:r>
            <a:br/>
            <a:r>
              <a:t>  • "What was the spread (best bid - best ask) after order Z?"</a:t>
            </a:r>
            <a:br/>
            <a:br/>
            <a:r>
              <a:t>Architecture Queries:</a:t>
            </a:r>
            <a:br/>
            <a:r>
              <a:t>  • "How does the system prevent race conditions?"</a:t>
            </a:r>
            <a:br/>
            <a:r>
              <a:t>  • "What happens if two orders arrive at the same price?"</a:t>
            </a:r>
            <a:br/>
            <a:r>
              <a:t>  • "Explain the relationship between Order and ExecutionReport"</a:t>
            </a:r>
            <a:br/>
            <a:br/>
            <a:r>
              <a:t>Performance Analysis:</a:t>
            </a:r>
            <a:br/>
            <a:r>
              <a:t>  • "How many function calls does a simple match require?"</a:t>
            </a:r>
            <a:br/>
            <a:r>
              <a:t>  • "What is the complexity of adding an order to the book?"</a:t>
            </a:r>
            <a:br/>
            <a:r>
              <a:t>  • "Show me the call depth for order VQ6EAOKbQdSnFkRmVUQAAw"</a:t>
            </a:r>
            <a:br/>
            <a:br/>
            <a:r>
              <a:t>Compliance &amp; Audit:</a:t>
            </a:r>
            <a:br/>
            <a:r>
              <a:t>  • "Show complete audit trail for order VQ6EAOKbQdSnFkRmVUQABA"</a:t>
            </a:r>
            <a:br/>
            <a:r>
              <a:t>  • "Were there any price improvements in the execution log?"</a:t>
            </a:r>
            <a:br/>
            <a:r>
              <a:t>  • "Verify all executions follow price-time priority"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RAG Query Flow: 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Query: "Explain order VQ6EAOKbQdSnFkRmVUQAAw processing"</a:t>
            </a:r>
            <a:br/>
            <a:br/>
            <a:r>
              <a:t>Step 1: Query Instrumentation Index</a:t>
            </a:r>
            <a:br/>
            <a:r>
              <a:t>  • Vector search finds relevant log sections</a:t>
            </a:r>
            <a:br/>
            <a:r>
              <a:t>  • Retrieved: ORDER_IN, CALL events, EXEC_REPORT, SNAPSHOT</a:t>
            </a:r>
            <a:br/>
            <a:r>
              <a:t>  • Context: "SELL LIMIT, 8 units at 100.55, matched at 100.60"</a:t>
            </a:r>
            <a:br/>
            <a:br/>
            <a:r>
              <a:t>Step 2: Query Code Index</a:t>
            </a:r>
            <a:br/>
            <a:r>
              <a:t>  • Semantic search on Java source files</a:t>
            </a:r>
            <a:br/>
            <a:r>
              <a:t>  • Retrieved: MatchingEngine.addOrder(), matchSellOrder(), executeMatch()</a:t>
            </a:r>
            <a:br/>
            <a:r>
              <a:t>  • Context: Function implementations and business logic descriptions</a:t>
            </a:r>
            <a:br/>
            <a:br/>
            <a:r>
              <a:t>Step 3: Synthesize with Claude Opus 4</a:t>
            </a:r>
            <a:br/>
            <a:r>
              <a:t>  • Combines both contexts into coherent narrative</a:t>
            </a:r>
            <a:br/>
            <a:r>
              <a:t>  • Cross-references function UUIDs with actual calls</a:t>
            </a:r>
            <a:br/>
            <a:r>
              <a:t>  • Explains why execution price (100.60) differed from limit (100.55)</a:t>
            </a:r>
            <a:br/>
            <a:br/>
            <a:r>
              <a:t>Result: Comprehensive answer explaining WHAT happened (logs),</a:t>
            </a:r>
            <a:br/>
            <a:r>
              <a:t>HOW it works (code), and WHY (price improvement, maker advantage).</a:t>
            </a:r>
            <a:br/>
            <a:br/>
            <a:r>
              <a:t>The RAG pipeline acts as an AI assistant that understands both</a:t>
            </a:r>
            <a:br/>
            <a:r>
              <a:t>your code and its runtime behavior.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Debugging: Trace order execution paths with AI assistance</a:t>
            </a:r>
          </a:p>
          <a:p>
            <a:pPr>
              <a:defRPr sz="1800"/>
            </a:pPr>
            <a:r>
              <a:t>  • 'Why didn't my order match?' - Get immediate answers</a:t>
            </a:r>
          </a:p>
          <a:p>
            <a:pPr>
              <a:defRPr sz="1800"/>
            </a:pPr>
            <a:r>
              <a:t>Auditing: Query historical execution patterns and anomalies</a:t>
            </a:r>
          </a:p>
          <a:p>
            <a:pPr>
              <a:defRPr sz="1800"/>
            </a:pPr>
            <a:r>
              <a:t>  • 'Show all price improvements today' - Compliance reporting</a:t>
            </a:r>
          </a:p>
          <a:p>
            <a:pPr>
              <a:defRPr sz="1800"/>
            </a:pPr>
            <a:r>
              <a:t>Education: Learn how matching engines work through examples</a:t>
            </a:r>
          </a:p>
          <a:p>
            <a:pPr>
              <a:defRPr sz="1800"/>
            </a:pPr>
            <a:r>
              <a:t>  • Students can ask questions about real executions</a:t>
            </a:r>
          </a:p>
          <a:p>
            <a:pPr>
              <a:defRPr sz="1800"/>
            </a:pPr>
            <a:r>
              <a:t>Documentation: Natural language search through code and logs</a:t>
            </a:r>
          </a:p>
          <a:p>
            <a:pPr>
              <a:defRPr sz="1800"/>
            </a:pPr>
            <a:r>
              <a:t>  • No need to grep through thousands of log lines</a:t>
            </a:r>
          </a:p>
          <a:p>
            <a:pPr>
              <a:defRPr sz="1800"/>
            </a:pPr>
            <a:r>
              <a:t>Performance Analysis: Identify bottlenecks from execution traces</a:t>
            </a:r>
          </a:p>
          <a:p>
            <a:pPr>
              <a:defRPr sz="1800"/>
            </a:pPr>
            <a:r>
              <a:t>  • 'What's the average call depth?' - Optimization insights</a:t>
            </a:r>
          </a:p>
          <a:p>
            <a:pPr>
              <a:defRPr sz="1800"/>
            </a:pPr>
            <a:r>
              <a:t>Testing: Verify behavior matches implementation expectations</a:t>
            </a:r>
          </a:p>
          <a:p>
            <a:pPr>
              <a:defRPr sz="1800"/>
            </a:pPr>
            <a:r>
              <a:t>  • 'Did order X follow price-time priority?' - Validation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Core Engine: Java 17, Maven 3.6+</a:t>
            </a:r>
          </a:p>
          <a:p>
            <a:pPr>
              <a:defRPr sz="1800"/>
            </a:pPr>
            <a:r>
              <a:t>Data Structures: TreeMap (order book), LinkedList (FIFO)</a:t>
            </a:r>
          </a:p>
          <a:p>
            <a:pPr>
              <a:defRPr sz="1800"/>
            </a:pPr>
            <a:r>
              <a:t>Instrumentation: Byte Buddy 1.14.11, Java Agent API</a:t>
            </a:r>
          </a:p>
          <a:p>
            <a:pPr>
              <a:defRPr sz="1800"/>
            </a:pPr>
            <a:r>
              <a:t>RAG Framework: LlamaIndex 0.14+</a:t>
            </a:r>
          </a:p>
          <a:p>
            <a:pPr>
              <a:defRPr sz="1800"/>
            </a:pPr>
            <a:r>
              <a:t>LLM: Anthropic Claude Opus 4 (claude-opus-4-20250514)</a:t>
            </a:r>
          </a:p>
          <a:p>
            <a:pPr>
              <a:defRPr sz="1800"/>
            </a:pPr>
            <a:r>
              <a:t>Embeddings: OpenAI text-embedding-3-small</a:t>
            </a:r>
          </a:p>
          <a:p>
            <a:pPr>
              <a:defRPr sz="1800"/>
            </a:pPr>
            <a:r>
              <a:t>Python: 3.12+ for RAG pipeline</a:t>
            </a:r>
          </a:p>
          <a:p>
            <a:pPr>
              <a:defRPr sz="1800"/>
            </a:pPr>
            <a:r>
              <a:t>CSV I/O: Standard Java libraries (no external dependencies)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UUID-Based Function Identification:</a:t>
            </a:r>
          </a:p>
          <a:p>
            <a:pPr>
              <a:defRPr sz="1800"/>
            </a:pPr>
            <a:r>
              <a:t>  • Stable across code refactoring, Base64 encoded (22 chars)</a:t>
            </a:r>
          </a:p>
          <a:p>
            <a:pPr>
              <a:defRPr sz="1800"/>
            </a:pPr>
            <a:r>
              <a:t>Metadata-Driven Instrumentation:</a:t>
            </a:r>
          </a:p>
          <a:p>
            <a:pPr>
              <a:defRPr sz="1800"/>
            </a:pPr>
            <a:r>
              <a:t>  • @FunctionMetadata self-documents business logic</a:t>
            </a:r>
          </a:p>
          <a:p>
            <a:pPr>
              <a:defRPr sz="1800"/>
            </a:pPr>
            <a:r>
              <a:t>Zero-Overhead Option:</a:t>
            </a:r>
          </a:p>
          <a:p>
            <a:pPr>
              <a:defRPr sz="1800"/>
            </a:pPr>
            <a:r>
              <a:t>  • Java agent can be disabled in production (no performance impact)</a:t>
            </a:r>
          </a:p>
          <a:p>
            <a:pPr>
              <a:defRPr sz="1800"/>
            </a:pPr>
            <a:r>
              <a:t>Dual-Index RAG:</a:t>
            </a:r>
          </a:p>
          <a:p>
            <a:pPr>
              <a:defRPr sz="1800"/>
            </a:pPr>
            <a:r>
              <a:t>  • Separate indices for 'what happened' vs 'how it works'</a:t>
            </a:r>
          </a:p>
          <a:p>
            <a:pPr>
              <a:defRPr sz="1800"/>
            </a:pPr>
            <a:r>
              <a:t>Context Propagation:</a:t>
            </a:r>
          </a:p>
          <a:p>
            <a:pPr>
              <a:defRPr sz="1800"/>
            </a:pPr>
            <a:r>
              <a:t>  • Thread-local tracking maintains order ID across call stack</a:t>
            </a:r>
          </a:p>
          <a:p>
            <a:pPr>
              <a:defRPr sz="1800"/>
            </a:pPr>
            <a:r>
              <a:t>AI-Powered Analysis:</a:t>
            </a:r>
          </a:p>
          <a:p>
            <a:pPr>
              <a:defRPr sz="1800"/>
            </a:pPr>
            <a:r>
              <a:t>  • Natural language queries on technical execution traces</a:t>
            </a:r>
          </a:p>
          <a:p>
            <a:pPr>
              <a:defRPr sz="1800"/>
            </a:pPr>
            <a:r>
              <a:t>Complete Audit Trail:</a:t>
            </a:r>
          </a:p>
          <a:p>
            <a:pPr>
              <a:defRPr sz="1800"/>
            </a:pPr>
            <a:r>
              <a:t>  • Every event captured: ORDER_IN → CALL → EXEC_REPORT → SNAPSHOT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Prepare: Create orders.csv with sample orders</a:t>
            </a:r>
          </a:p>
          <a:p>
            <a:pPr>
              <a:defRPr sz="1800"/>
            </a:pPr>
            <a:r>
              <a:t>2. Build: mvn clean package (engine + agent)</a:t>
            </a:r>
          </a:p>
          <a:p>
            <a:pPr>
              <a:defRPr sz="1800"/>
            </a:pPr>
            <a:r>
              <a:t>3. Run with Instrumentation:</a:t>
            </a:r>
          </a:p>
          <a:p>
            <a:pPr>
              <a:defRPr sz="1800"/>
            </a:pPr>
            <a:r>
              <a:t>   java -javaagent:agent/target/matching-agent-1.0-SNAPSHOT.jar \</a:t>
            </a:r>
          </a:p>
          <a:p>
            <a:pPr>
              <a:defRPr sz="1800"/>
            </a:pPr>
            <a:r>
              <a:t>        -jar target/matching-engine-1.0-SNAPSHOT.jar</a:t>
            </a:r>
          </a:p>
          <a:p>
            <a:pPr>
              <a:defRPr sz="1800"/>
            </a:pPr>
            <a:r>
              <a:t>4. Output: executions.csv + instrumentation.log generated</a:t>
            </a:r>
          </a:p>
          <a:p>
            <a:pPr>
              <a:defRPr sz="1800"/>
            </a:pPr>
            <a:r>
              <a:t>5. Start RAG: python3 rag_query.py</a:t>
            </a:r>
          </a:p>
          <a:p>
            <a:pPr>
              <a:defRPr sz="1800"/>
            </a:pPr>
            <a:r>
              <a:t>6. Query: Ask natural language questions</a:t>
            </a:r>
          </a:p>
          <a:p>
            <a:pPr>
              <a:defRPr sz="1800"/>
            </a:pPr>
            <a:r>
              <a:t>7. Analyze: Get AI-powered insights combining code + execution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Matching Engine:</a:t>
            </a:r>
          </a:p>
          <a:p>
            <a:pPr>
              <a:defRPr sz="1800"/>
            </a:pPr>
            <a:r>
              <a:t>  • O(log n) insertion, O(log n) best price lookup (TreeMap)</a:t>
            </a:r>
          </a:p>
          <a:p>
            <a:pPr>
              <a:defRPr sz="1800"/>
            </a:pPr>
            <a:r>
              <a:t>  • O(1) FIFO queue operations (LinkedList)</a:t>
            </a:r>
          </a:p>
          <a:p>
            <a:pPr>
              <a:defRPr sz="1800"/>
            </a:pPr>
            <a:r>
              <a:t>Instrumentation:</a:t>
            </a:r>
          </a:p>
          <a:p>
            <a:pPr>
              <a:defRPr sz="1800"/>
            </a:pPr>
            <a:r>
              <a:t>  • &lt;5% overhead when enabled</a:t>
            </a:r>
          </a:p>
          <a:p>
            <a:pPr>
              <a:defRPr sz="1800"/>
            </a:pPr>
            <a:r>
              <a:t>  • 0% overhead when disabled (just don't use -javaagent)</a:t>
            </a:r>
          </a:p>
          <a:p>
            <a:pPr>
              <a:defRPr sz="1800"/>
            </a:pPr>
            <a:r>
              <a:t>RAG Pipeline:</a:t>
            </a:r>
          </a:p>
          <a:p>
            <a:pPr>
              <a:defRPr sz="1800"/>
            </a:pPr>
            <a:r>
              <a:t>  • Indexing: One-time cost, ~2-5 seconds for sample data</a:t>
            </a:r>
          </a:p>
          <a:p>
            <a:pPr>
              <a:defRPr sz="1800"/>
            </a:pPr>
            <a:r>
              <a:t>  • Queries: 2-5 seconds per query (depends on complexity)</a:t>
            </a:r>
          </a:p>
          <a:p>
            <a:pPr>
              <a:defRPr sz="1800"/>
            </a:pPr>
            <a:r>
              <a:t>  • Embeddings: Cached locally after first generation</a:t>
            </a:r>
          </a:p>
          <a:p>
            <a:pPr>
              <a:defRPr sz="1800"/>
            </a:pPr>
            <a:r>
              <a:t>  • Cost: ~$0.01-0.05 per query (Claude Opus 4 pricing)</a:t>
            </a:r>
          </a:p>
          <a:p>
            <a:pPr>
              <a:defRPr sz="1800"/>
            </a:pPr>
            <a:r>
              <a:t>Scalability: Can handle thousands of log lines and dozens of files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Real-Time Features:</a:t>
            </a:r>
          </a:p>
          <a:p>
            <a:pPr>
              <a:defRPr sz="1800"/>
            </a:pPr>
            <a:r>
              <a:t>  • Streaming instrumentation events (Kafka/RabbitMQ)</a:t>
            </a:r>
          </a:p>
          <a:p>
            <a:pPr>
              <a:defRPr sz="1800"/>
            </a:pPr>
            <a:r>
              <a:t>  • Live RAG queries during execution (WebSocket)</a:t>
            </a:r>
          </a:p>
          <a:p>
            <a:pPr>
              <a:defRPr sz="1800"/>
            </a:pPr>
            <a:r>
              <a:t>Enhanced Visualization:</a:t>
            </a:r>
          </a:p>
          <a:p>
            <a:pPr>
              <a:defRPr sz="1800"/>
            </a:pPr>
            <a:r>
              <a:t>  • Order book depth charts in RAG responses</a:t>
            </a:r>
          </a:p>
          <a:p>
            <a:pPr>
              <a:defRPr sz="1800"/>
            </a:pPr>
            <a:r>
              <a:t>  • Execution timeline visualizations</a:t>
            </a:r>
          </a:p>
          <a:p>
            <a:pPr>
              <a:defRPr sz="1800"/>
            </a:pPr>
            <a:r>
              <a:t>Multi-Symbol Trading:</a:t>
            </a:r>
          </a:p>
          <a:p>
            <a:pPr>
              <a:defRPr sz="1800"/>
            </a:pPr>
            <a:r>
              <a:t>  • Symbol-specific indices for cross-symbol analysis</a:t>
            </a:r>
          </a:p>
          <a:p>
            <a:pPr>
              <a:defRPr sz="1800"/>
            </a:pPr>
            <a:r>
              <a:t>  • Market-wide queries across all symbols</a:t>
            </a:r>
          </a:p>
          <a:p>
            <a:pPr>
              <a:defRPr sz="1800"/>
            </a:pPr>
            <a:r>
              <a:t>Advanced Analytics:</a:t>
            </a:r>
          </a:p>
          <a:p>
            <a:pPr>
              <a:defRPr sz="1800"/>
            </a:pPr>
            <a:r>
              <a:t>  • Performance profiling (CPU, memory, latency)</a:t>
            </a:r>
          </a:p>
          <a:p>
            <a:pPr>
              <a:defRPr sz="1800"/>
            </a:pPr>
            <a:r>
              <a:t>  • Automated test case generation from traces</a:t>
            </a:r>
          </a:p>
          <a:p>
            <a:pPr>
              <a:defRPr sz="1800"/>
            </a:pPr>
            <a:r>
              <a:t>  • Anomaly detection using AI on execution patterns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Production-Ready Matching Engine:</a:t>
            </a:r>
          </a:p>
          <a:p>
            <a:pPr>
              <a:defRPr sz="1800"/>
            </a:pPr>
            <a:r>
              <a:t>  • Price-time priority, partial fills, market/limit orders</a:t>
            </a:r>
          </a:p>
          <a:p>
            <a:pPr>
              <a:defRPr sz="1800"/>
            </a:pPr>
            <a:r>
              <a:t>✓ Innovative Instrumentation:</a:t>
            </a:r>
          </a:p>
          <a:p>
            <a:pPr>
              <a:defRPr sz="1800"/>
            </a:pPr>
            <a:r>
              <a:t>  • @FunctionMetadata annotations + Byte Buddy bytecode manipulation</a:t>
            </a:r>
          </a:p>
          <a:p>
            <a:pPr>
              <a:defRPr sz="1800"/>
            </a:pPr>
            <a:r>
              <a:t>  • Complete audit trail with zero code changes to core engine</a:t>
            </a:r>
          </a:p>
          <a:p>
            <a:pPr>
              <a:defRPr sz="1800"/>
            </a:pPr>
            <a:r>
              <a:t>✓ AI-Powered RAG Pipeline:</a:t>
            </a:r>
          </a:p>
          <a:p>
            <a:pPr>
              <a:defRPr sz="1800"/>
            </a:pPr>
            <a:r>
              <a:t>  • Natural language queries on both code and execution traces</a:t>
            </a:r>
          </a:p>
          <a:p>
            <a:pPr>
              <a:defRPr sz="1800"/>
            </a:pPr>
            <a:r>
              <a:t>  • Claude Opus 4 synthesizes answers from dual indices</a:t>
            </a:r>
          </a:p>
          <a:p>
            <a:pPr>
              <a:defRPr sz="1800"/>
            </a:pPr>
            <a:r>
              <a:t>✓ Educational Value:</a:t>
            </a:r>
          </a:p>
          <a:p>
            <a:pPr>
              <a:defRPr sz="1800"/>
            </a:pPr>
            <a:r>
              <a:t>  • Learn matching engines through real examples</a:t>
            </a:r>
          </a:p>
          <a:p>
            <a:pPr>
              <a:defRPr sz="1800"/>
            </a:pPr>
            <a:r>
              <a:t>  • Debugging and analysis with AI assistance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GitHub: https://github.com/spopa01/matching-engine</a:t>
            </a:r>
          </a:p>
          <a:p>
            <a:pPr>
              <a:defRPr sz="1800"/>
            </a:pPr>
            <a:r>
              <a:t>Demonstrates powerful synergy: Traditional Systems + Modern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