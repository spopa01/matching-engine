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Matching Engine with Instrumentation &amp; RAG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High-Performance Order Matching with AI-Powered Query Capabilities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High-performance order matching engine in Java 17</a:t>
            </a:r>
          </a:p>
          <a:p>
            <a:pPr>
              <a:defRPr sz="1800"/>
            </a:pPr>
            <a:r>
              <a:t>Price-time priority (FIFO) matching algorithm</a:t>
            </a:r>
          </a:p>
          <a:p>
            <a:pPr>
              <a:defRPr sz="1800"/>
            </a:pPr>
            <a:r>
              <a:t>Support for LIMIT and MARKET orders with partial fills</a:t>
            </a:r>
          </a:p>
          <a:p>
            <a:pPr>
              <a:defRPr sz="1800"/>
            </a:pPr>
            <a:r>
              <a:t>Bytecode instrumentation using Byte Buddy for execution tracing</a:t>
            </a:r>
          </a:p>
          <a:p>
            <a:pPr>
              <a:defRPr sz="1800"/>
            </a:pPr>
            <a:r>
              <a:t>RAG pipeline for querying execution logs and source code</a:t>
            </a:r>
          </a:p>
          <a:p>
            <a:pPr>
              <a:defRPr sz="1800"/>
            </a:pPr>
            <a:r>
              <a:t>AI-powered analysis using LlamaIndex and Claude Opus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Core Matching Engine: Java-based order book with TreeMap</a:t>
            </a:r>
          </a:p>
          <a:p>
            <a:pPr>
              <a:defRPr sz="1800"/>
            </a:pPr>
            <a:r>
              <a:t>Java Agent: Byte Buddy instrumentation for runtime tracing</a:t>
            </a:r>
          </a:p>
          <a:p>
            <a:pPr>
              <a:defRPr sz="1800"/>
            </a:pPr>
            <a:r>
              <a:t>Annotation System: @FunctionMetadata for function identification</a:t>
            </a:r>
          </a:p>
          <a:p>
            <a:pPr>
              <a:defRPr sz="1800"/>
            </a:pPr>
            <a:r>
              <a:t>CSV I/O: Order input and execution report output</a:t>
            </a:r>
          </a:p>
          <a:p>
            <a:pPr>
              <a:defRPr sz="1800"/>
            </a:pPr>
            <a:r>
              <a:t>Instrumentation Log: Detailed execution traces with events</a:t>
            </a:r>
          </a:p>
          <a:p>
            <a:pPr>
              <a:defRPr sz="1800"/>
            </a:pPr>
            <a:r>
              <a:t>RAG Pipeline: LlamaIndex + Claude for semantic search and Q&amp;A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Matching Engine Core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OrderBook: TreeMap-based data structure</a:t>
            </a:r>
          </a:p>
          <a:p>
            <a:pPr>
              <a:defRPr sz="1800"/>
            </a:pPr>
            <a:r>
              <a:t>  • Buy side: Descending order (highest price first)</a:t>
            </a:r>
          </a:p>
          <a:p>
            <a:pPr>
              <a:defRPr sz="1800"/>
            </a:pPr>
            <a:r>
              <a:t>  • Sell side: Ascending order (lowest price first)</a:t>
            </a:r>
          </a:p>
          <a:p>
            <a:pPr>
              <a:defRPr sz="1800"/>
            </a:pPr>
            <a:r>
              <a:t>  • FIFO within each price level (LinkedList)</a:t>
            </a:r>
          </a:p>
          <a:p>
            <a:pPr>
              <a:defRPr sz="1800"/>
            </a:pPr>
            <a:r>
              <a:t>MatchingEngine: Executes price-time priority matching</a:t>
            </a:r>
          </a:p>
          <a:p>
            <a:pPr>
              <a:defRPr sz="1800"/>
            </a:pPr>
            <a:r>
              <a:t>ExecutionReport: Tracks fills with cumulative quantities</a:t>
            </a:r>
          </a:p>
          <a:p>
            <a:pPr>
              <a:defRPr sz="1800"/>
            </a:pPr>
            <a:r>
              <a:t>Supports full fills, partial fills, and order cancellations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Annotation System: @FunctionMetadata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solidFill>
            <a:srgbClr val="F5F5F5"/>
          </a:solidFill>
        </p:spPr>
        <p:txBody>
          <a:bodyPr wrap="square">
            <a:spAutoFit/>
          </a:bodyPr>
          <a:lstStyle/>
          <a:p>
            <a:pPr>
              <a:defRPr sz="1100">
                <a:latin typeface="Courier New"/>
              </a:defRPr>
            </a:pPr>
            <a:r>
              <a:t>@FunctionMetadata Annotation:</a:t>
            </a:r>
            <a:br/>
            <a:br/>
            <a:r>
              <a:t>@Retention(RetentionPolicy.RUNTIME)</a:t>
            </a:r>
            <a:br/>
            <a:r>
              <a:t>@Target(ElementType.METHOD)</a:t>
            </a:r>
            <a:br/>
            <a:r>
              <a:t>public @interface FunctionMetadata {</a:t>
            </a:r>
            <a:br/>
            <a:r>
              <a:t>    String uuid();</a:t>
            </a:r>
            <a:br/>
            <a:r>
              <a:t>    String functionName();</a:t>
            </a:r>
            <a:br/>
            <a:r>
              <a:t>    String description();</a:t>
            </a:r>
            <a:br/>
            <a:r>
              <a:t>}</a:t>
            </a:r>
            <a:br/>
            <a:br/>
            <a:r>
              <a:t>Example Usage:</a:t>
            </a:r>
            <a:br/>
            <a:br/>
            <a:r>
              <a:t>@FunctionMetadata(</a:t>
            </a:r>
            <a:br/>
            <a:r>
              <a:t>    uuid = "8KGyw9TlT1prfI2eDxorPA",</a:t>
            </a:r>
            <a:br/>
            <a:r>
              <a:t>    functionName = "addOrder",</a:t>
            </a:r>
            <a:br/>
            <a:r>
              <a:t>    description = "Main entry point for processing incoming orders..."</a:t>
            </a:r>
            <a:br/>
            <a:r>
              <a:t>)</a:t>
            </a:r>
            <a:br/>
            <a:r>
              <a:t>public List&lt;ExecutionReport&gt; addOrder(Order order) {</a:t>
            </a:r>
            <a:br/>
            <a:r>
              <a:t>    // Matching logic</a:t>
            </a:r>
            <a:br/>
            <a:r>
              <a:t>}</a:t>
            </a:r>
            <a:br/>
            <a:br/>
            <a:r>
              <a:t>Benefits:</a:t>
            </a:r>
            <a:br/>
            <a:r>
              <a:t>• Unique UUID identification for each function</a:t>
            </a:r>
            <a:br/>
            <a:r>
              <a:t>• Runtime introspection for instrumentation</a:t>
            </a:r>
            <a:br/>
            <a:r>
              <a:t>• Self-documenting code with descriptions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Instrumentation with Byte Buddy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Java Agent intercepts method calls at runtime</a:t>
            </a:r>
          </a:p>
          <a:p>
            <a:pPr>
              <a:defRPr sz="1800"/>
            </a:pPr>
            <a:r>
              <a:t>Uses Byte Buddy for bytecode manipulation</a:t>
            </a:r>
          </a:p>
          <a:p>
            <a:pPr>
              <a:defRPr sz="1800"/>
            </a:pPr>
            <a:r>
              <a:t>Captures execution events without modifying source code</a:t>
            </a:r>
          </a:p>
          <a:p>
            <a:pPr>
              <a:defRPr sz="1800"/>
            </a:pPr>
            <a:r>
              <a:t>Thread-local context for order ID propagation</a:t>
            </a:r>
          </a:p>
          <a:p>
            <a:pPr>
              <a:defRPr sz="1800"/>
            </a:pPr>
            <a:r>
              <a:t>Call depth tracking for hierarchical traces</a:t>
            </a:r>
          </a:p>
          <a:p>
            <a:pPr>
              <a:defRPr sz="1800"/>
            </a:pPr>
            <a:r>
              <a:t>Zero performance impact on production when disabled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Instrumentation Events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solidFill>
            <a:srgbClr val="F5F5F5"/>
          </a:solidFill>
        </p:spPr>
        <p:txBody>
          <a:bodyPr wrap="square">
            <a:spAutoFit/>
          </a:bodyPr>
          <a:lstStyle/>
          <a:p>
            <a:pPr>
              <a:defRPr sz="1100">
                <a:latin typeface="Courier New"/>
              </a:defRPr>
            </a:pPr>
            <a:r>
              <a:t>Event Types Captured:</a:t>
            </a:r>
            <a:br/>
            <a:br/>
            <a:r>
              <a:t>1. ORDER_IN - Incoming order details</a:t>
            </a:r>
            <a:br/>
            <a:r>
              <a:t>   Format: orderId | side | orderType | qty | price</a:t>
            </a:r>
            <a:br/>
            <a:br/>
            <a:r>
              <a:t>2. CALL - Function invocation with UUID</a:t>
            </a:r>
            <a:br/>
            <a:r>
              <a:t>   Format: functionUuid (from @FunctionMetadata)</a:t>
            </a:r>
            <a:br/>
            <a:br/>
            <a:r>
              <a:t>3. EXEC_REPORT - Trade execution details</a:t>
            </a:r>
            <a:br/>
            <a:r>
              <a:t>   Format: orderId | side | executionType | qty | lastQty | cumQty | price</a:t>
            </a:r>
            <a:br/>
            <a:br/>
            <a:r>
              <a:t>4. BOOK_ADD - Order added to book</a:t>
            </a:r>
            <a:br/>
            <a:r>
              <a:t>   Format: orderId | side | price | remainingQty | cumQty</a:t>
            </a:r>
            <a:br/>
            <a:br/>
            <a:r>
              <a:t>5. SNAPSHOT - Order book state</a:t>
            </a:r>
            <a:br/>
            <a:r>
              <a:t>   Format: Buy: [price@orderId:qty, ...] Sell: [price@orderId:qty, ...]</a:t>
            </a:r>
            <a:br/>
            <a:br/>
            <a:r>
              <a:t>Example Log Entry:</a:t>
            </a:r>
            <a:br/>
            <a:r>
              <a:t>2025-02-15T10:30:15.123Z | VQ6EAOKbQdSnFkRmVUQAAA | ORDER_IN |</a:t>
            </a:r>
            <a:br/>
            <a:r>
              <a:t>  VQ6EAOKbQdSnFkRmVUQAAA | BUY | LIMIT | qty=10 | price=100.50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RAG Pipeline: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Dual-Index System:</a:t>
            </a:r>
          </a:p>
          <a:p>
            <a:pPr>
              <a:defRPr sz="1800"/>
            </a:pPr>
            <a:r>
              <a:t>  1. Instrumentation Log Index - Execution traces</a:t>
            </a:r>
          </a:p>
          <a:p>
            <a:pPr>
              <a:defRPr sz="1800"/>
            </a:pPr>
            <a:r>
              <a:t>  2. Source Code Index - Java implementation files</a:t>
            </a:r>
          </a:p>
          <a:p>
            <a:pPr>
              <a:defRPr sz="1800"/>
            </a:pPr>
            <a:r>
              <a:t>LlamaIndex: RAG framework for indexing and retrieval</a:t>
            </a:r>
          </a:p>
          <a:p>
            <a:pPr>
              <a:defRPr sz="1800"/>
            </a:pPr>
            <a:r>
              <a:t>OpenAI Embeddings: text-embedding-3-small for vector search</a:t>
            </a:r>
          </a:p>
          <a:p>
            <a:pPr>
              <a:defRPr sz="1800"/>
            </a:pPr>
            <a:r>
              <a:t>Claude Opus 4: Anthropic's LLM for query answering</a:t>
            </a:r>
          </a:p>
          <a:p>
            <a:pPr>
              <a:defRPr sz="1800"/>
            </a:pPr>
            <a:r>
              <a:t>Three Query Modes: /instr, /code, /both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RAG Pipeline: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solidFill>
            <a:srgbClr val="F5F5F5"/>
          </a:solidFill>
        </p:spPr>
        <p:txBody>
          <a:bodyPr wrap="square">
            <a:spAutoFit/>
          </a:bodyPr>
          <a:lstStyle/>
          <a:p>
            <a:pPr>
              <a:defRPr sz="1100">
                <a:latin typeface="Courier New"/>
              </a:defRPr>
            </a:pPr>
            <a:r>
              <a:t>RAG Pipeline Components:</a:t>
            </a:r>
            <a:br/>
            <a:br/>
            <a:r>
              <a:t>class MatchingEngineRAG:</a:t>
            </a:r>
            <a:br/>
            <a:r>
              <a:t>    def __init__(self):</a:t>
            </a:r>
            <a:br/>
            <a:r>
              <a:t>        # LLM: Claude Opus 4</a:t>
            </a:r>
            <a:br/>
            <a:r>
              <a:t>        Settings.llm = Anthropic(</a:t>
            </a:r>
            <a:br/>
            <a:r>
              <a:t>            model="claude-opus-4-20250514",</a:t>
            </a:r>
            <a:br/>
            <a:r>
              <a:t>            temperature=0.1</a:t>
            </a:r>
            <a:br/>
            <a:r>
              <a:t>        )</a:t>
            </a:r>
            <a:br/>
            <a:br/>
            <a:r>
              <a:t>        # Embeddings: OpenAI</a:t>
            </a:r>
            <a:br/>
            <a:r>
              <a:t>        Settings.embed_model = OpenAIEmbedding(</a:t>
            </a:r>
            <a:br/>
            <a:r>
              <a:t>            model="text-embedding-3-small"</a:t>
            </a:r>
            <a:br/>
            <a:r>
              <a:t>        )</a:t>
            </a:r>
            <a:br/>
            <a:br/>
            <a:r>
              <a:t>    # Index instrumentation log</a:t>
            </a:r>
            <a:br/>
            <a:r>
              <a:t>    def index_instrumentation_log(self, log_path)</a:t>
            </a:r>
            <a:br/>
            <a:br/>
            <a:r>
              <a:t>    # Index Java source code</a:t>
            </a:r>
            <a:br/>
            <a:r>
              <a:t>    def index_source_code(self, source_dirs)</a:t>
            </a:r>
            <a:br/>
            <a:br/>
            <a:r>
              <a:t>    # Query methods</a:t>
            </a:r>
            <a:br/>
            <a:r>
              <a:t>    def query_instrumentation(self, query) -&gt; str</a:t>
            </a:r>
            <a:br/>
            <a:r>
              <a:t>    def query_code(self, query) -&gt; str</a:t>
            </a:r>
            <a:br/>
            <a:r>
              <a:t>    def query_both(self, query) -&gt; str  # Synthesized answer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RAG Examples: Instrumentation Queries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Query: 'What orders were executed and at what prices?'</a:t>
            </a:r>
          </a:p>
          <a:p>
            <a:pPr>
              <a:defRPr sz="1800"/>
            </a:pPr>
            <a:r>
              <a:t>  → Analyzes EXEC_REPORT events from instrumentation.log</a:t>
            </a:r>
          </a:p>
          <a:p>
            <a:pPr>
              <a:defRPr sz="1800"/>
            </a:pPr>
            <a:r>
              <a:t>  → Returns order IDs, execution types, quantities, and prices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Query: 'Show me the order book state after order VQ6EAOKbQdSnFkRmVUQAAA'</a:t>
            </a:r>
          </a:p>
          <a:p>
            <a:pPr>
              <a:defRPr sz="1800"/>
            </a:pPr>
            <a:r>
              <a:t>  → Finds SNAPSHOT event for that order ID</a:t>
            </a:r>
          </a:p>
          <a:p>
            <a:pPr>
              <a:defRPr sz="1800"/>
            </a:pPr>
            <a:r>
              <a:t>  → Shows buy/sell side price levels with quantities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Query: 'Which orders had partial fills?'</a:t>
            </a:r>
          </a:p>
          <a:p>
            <a:pPr>
              <a:defRPr sz="1800"/>
            </a:pPr>
            <a:r>
              <a:t>  → Filters EXEC_REPORT events with executionType=PARTIAL_FILL</a:t>
            </a:r>
          </a:p>
          <a:p>
            <a:pPr>
              <a:defRPr sz="1800"/>
            </a:pPr>
            <a:r>
              <a:t>  → Lists orders with remaining quantities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RAG Examples: Code Queries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Query: 'How does the matching algorithm work?'</a:t>
            </a:r>
          </a:p>
          <a:p>
            <a:pPr>
              <a:defRPr sz="1800"/>
            </a:pPr>
            <a:r>
              <a:t>  → Retrieves MatchingEngine.java implementation</a:t>
            </a:r>
          </a:p>
          <a:p>
            <a:pPr>
              <a:defRPr sz="1800"/>
            </a:pPr>
            <a:r>
              <a:t>  → Explains executeMatch() logic and price-time priority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Query: 'What is the order book data structure?'</a:t>
            </a:r>
          </a:p>
          <a:p>
            <a:pPr>
              <a:defRPr sz="1800"/>
            </a:pPr>
            <a:r>
              <a:t>  → Analyzes OrderBook.java</a:t>
            </a:r>
          </a:p>
          <a:p>
            <a:pPr>
              <a:defRPr sz="1800"/>
            </a:pPr>
            <a:r>
              <a:t>  → Describes TreeMap structure for buy/sell sides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Query: 'Explain the executeMatch function'</a:t>
            </a:r>
          </a:p>
          <a:p>
            <a:pPr>
              <a:defRPr sz="1800"/>
            </a:pPr>
            <a:r>
              <a:t>  → Retrieves method implementation</a:t>
            </a:r>
          </a:p>
          <a:p>
            <a:pPr>
              <a:defRPr sz="1800"/>
            </a:pPr>
            <a:r>
              <a:t>  → Explains matching logic, fill calculations, and report generation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RAG Examples: Combined Queries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Query: 'How did the matching engine process market orders?'</a:t>
            </a:r>
          </a:p>
          <a:p>
            <a:pPr>
              <a:defRPr sz="1800"/>
            </a:pPr>
            <a:r>
              <a:t>  → Code: Explains market order matching logic</a:t>
            </a:r>
          </a:p>
          <a:p>
            <a:pPr>
              <a:defRPr sz="1800"/>
            </a:pPr>
            <a:r>
              <a:t>  → Logs: Shows actual market order executions</a:t>
            </a:r>
          </a:p>
          <a:p>
            <a:pPr>
              <a:defRPr sz="1800"/>
            </a:pPr>
            <a:r>
              <a:t>  → Synthesized: Theory + Practice together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Query: 'Explain what happened when order VQ6EAOKbQdSnFkRmVUQABA was processed'</a:t>
            </a:r>
          </a:p>
          <a:p>
            <a:pPr>
              <a:defRPr sz="1800"/>
            </a:pPr>
            <a:r>
              <a:t>  → Logs: Complete execution trace with all events</a:t>
            </a:r>
          </a:p>
          <a:p>
            <a:pPr>
              <a:defRPr sz="1800"/>
            </a:pPr>
            <a:r>
              <a:t>  → Code: Function implementations that were called</a:t>
            </a:r>
          </a:p>
          <a:p>
            <a:pPr>
              <a:defRPr sz="1800"/>
            </a:pPr>
            <a:r>
              <a:t>  → Synthesized: Step-by-step explanation with code context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Query: 'What is price-time priority and how is it implemented?'</a:t>
            </a:r>
          </a:p>
          <a:p>
            <a:pPr>
              <a:defRPr sz="1800"/>
            </a:pPr>
            <a:r>
              <a:t>  → Code: OrderBook structure and matching algorithm</a:t>
            </a:r>
          </a:p>
          <a:p>
            <a:pPr>
              <a:defRPr sz="1800"/>
            </a:pPr>
            <a:r>
              <a:t>  → Logs: Real examples showing FIFO ordering in SNAPSHOT events</a:t>
            </a:r>
          </a:p>
          <a:p>
            <a:pPr>
              <a:defRPr sz="1800"/>
            </a:pPr>
            <a:r>
              <a:t>  → Synthesized: Concept + Implementation + Evidence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Sample RAG Query: Combined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solidFill>
            <a:srgbClr val="F5F5F5"/>
          </a:solidFill>
        </p:spPr>
        <p:txBody>
          <a:bodyPr wrap="square">
            <a:spAutoFit/>
          </a:bodyPr>
          <a:lstStyle/>
          <a:p>
            <a:pPr>
              <a:defRPr sz="1100">
                <a:latin typeface="Courier New"/>
              </a:defRPr>
            </a:pPr>
            <a:r>
              <a:t>Query: "Explain order VQ6EAOKbQdSnFkRmVUQAAw processing"</a:t>
            </a:r>
            <a:br/>
            <a:br/>
            <a:r>
              <a:t>Step 1: Query Instrumentation Index</a:t>
            </a:r>
            <a:br/>
            <a:r>
              <a:t>→ Finds: ORDER_IN, CALL events, EXEC_REPORT, BOOK_ADD, SNAPSHOT</a:t>
            </a:r>
            <a:br/>
            <a:r>
              <a:t>→ Result: "Order was a SELL LIMIT for 8 units at 100.60,</a:t>
            </a:r>
            <a:br/>
            <a:r>
              <a:t>   fully filled against existing buy order"</a:t>
            </a:r>
            <a:br/>
            <a:br/>
            <a:r>
              <a:t>Step 2: Query Code Index</a:t>
            </a:r>
            <a:br/>
            <a:r>
              <a:t>→ Finds: MatchingEngine.addOrder(), OrderBook.matchAgainstSide()</a:t>
            </a:r>
            <a:br/>
            <a:r>
              <a:t>→ Result: "addOrder() calls matchAgainstSide() which iterates</a:t>
            </a:r>
            <a:br/>
            <a:r>
              <a:t>   through opposite side price levels..."</a:t>
            </a:r>
            <a:br/>
            <a:br/>
            <a:r>
              <a:t>Step 3: Synthesize with Claude</a:t>
            </a:r>
            <a:br/>
            <a:r>
              <a:t>→ Combines both contexts</a:t>
            </a:r>
            <a:br/>
            <a:r>
              <a:t>→ Result: "Order VQ6EAOKbQdSnFkRmVUQAAw was a SELL LIMIT order.</a:t>
            </a:r>
            <a:br/>
            <a:r>
              <a:t>   The MatchingEngine.addOrder() method (UUID: 8KGyw9TlT1prfI2eDxorPA)</a:t>
            </a:r>
            <a:br/>
            <a:r>
              <a:t>   received it and called matchAgainstSide() to find matching buy orders.</a:t>
            </a:r>
            <a:br/>
            <a:r>
              <a:t>   It matched against order VQ6EAOKbQdSnFkRmVUQAAA at price 100.60,</a:t>
            </a:r>
            <a:br/>
            <a:r>
              <a:t>   resulting in a FULL_FILL execution report with 8 units traded."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 Cases &amp; Benefits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Debugging: Trace order execution paths with AI assistance</a:t>
            </a:r>
          </a:p>
          <a:p>
            <a:pPr>
              <a:defRPr sz="1800"/>
            </a:pPr>
            <a:r>
              <a:t>Auditing: Query historical execution patterns and anomalies</a:t>
            </a:r>
          </a:p>
          <a:p>
            <a:pPr>
              <a:defRPr sz="1800"/>
            </a:pPr>
            <a:r>
              <a:t>Education: Learn how matching engines work through examples</a:t>
            </a:r>
          </a:p>
          <a:p>
            <a:pPr>
              <a:defRPr sz="1800"/>
            </a:pPr>
            <a:r>
              <a:t>Documentation: Natural language search through code and logs</a:t>
            </a:r>
          </a:p>
          <a:p>
            <a:pPr>
              <a:defRPr sz="1800"/>
            </a:pPr>
            <a:r>
              <a:t>Performance Analysis: Identify bottlenecks from execution traces</a:t>
            </a:r>
          </a:p>
          <a:p>
            <a:pPr>
              <a:defRPr sz="1800"/>
            </a:pPr>
            <a:r>
              <a:t>Compliance: Answer regulatory questions about order handling</a:t>
            </a:r>
          </a:p>
          <a:p>
            <a:pPr>
              <a:defRPr sz="1800"/>
            </a:pPr>
            <a:r>
              <a:t>Testing: Verify behavior matches implementation expectations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Technology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Core Engine: Java 17, Maven</a:t>
            </a:r>
          </a:p>
          <a:p>
            <a:pPr>
              <a:defRPr sz="1800"/>
            </a:pPr>
            <a:r>
              <a:t>Data Structures: TreeMap (order book), LinkedList (FIFO)</a:t>
            </a:r>
          </a:p>
          <a:p>
            <a:pPr>
              <a:defRPr sz="1800"/>
            </a:pPr>
            <a:r>
              <a:t>Instrumentation: Byte Buddy 1.14.11, Java Agent API</a:t>
            </a:r>
          </a:p>
          <a:p>
            <a:pPr>
              <a:defRPr sz="1800"/>
            </a:pPr>
            <a:r>
              <a:t>Build Tool: Maven 3.6+</a:t>
            </a:r>
          </a:p>
          <a:p>
            <a:pPr>
              <a:defRPr sz="1800"/>
            </a:pPr>
            <a:r>
              <a:t>RAG Framework: LlamaIndex 0.14+</a:t>
            </a:r>
          </a:p>
          <a:p>
            <a:pPr>
              <a:defRPr sz="1800"/>
            </a:pPr>
            <a:r>
              <a:t>LLM: Anthropic Claude Opus 4</a:t>
            </a:r>
          </a:p>
          <a:p>
            <a:pPr>
              <a:defRPr sz="1800"/>
            </a:pPr>
            <a:r>
              <a:t>Embeddings: OpenAI text-embedding-3-small</a:t>
            </a:r>
          </a:p>
          <a:p>
            <a:pPr>
              <a:defRPr sz="1800"/>
            </a:pPr>
            <a:r>
              <a:t>Language: Python 3.12+ for RAG pipeline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Innovations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UUID-Based Function Identification: Stable across refactoring</a:t>
            </a:r>
          </a:p>
          <a:p>
            <a:pPr>
              <a:defRPr sz="1800"/>
            </a:pPr>
            <a:r>
              <a:t>Metadata-Driven Instrumentation: Self-documenting code</a:t>
            </a:r>
          </a:p>
          <a:p>
            <a:pPr>
              <a:defRPr sz="1800"/>
            </a:pPr>
            <a:r>
              <a:t>Zero-Overhead Instrumentation: Agent can be disabled in production</a:t>
            </a:r>
          </a:p>
          <a:p>
            <a:pPr>
              <a:defRPr sz="1800"/>
            </a:pPr>
            <a:r>
              <a:t>Dual-Index RAG: Query both 'what happened' and 'how it works'</a:t>
            </a:r>
          </a:p>
          <a:p>
            <a:pPr>
              <a:defRPr sz="1800"/>
            </a:pPr>
            <a:r>
              <a:t>Context Propagation: Thread-local order ID tracking</a:t>
            </a:r>
          </a:p>
          <a:p>
            <a:pPr>
              <a:defRPr sz="1800"/>
            </a:pPr>
            <a:r>
              <a:t>Semantic Search: Natural language queries on technical content</a:t>
            </a:r>
          </a:p>
          <a:p>
            <a:pPr>
              <a:defRPr sz="1800"/>
            </a:pPr>
            <a:r>
              <a:t>Base64 UUID Encoding: Compact 22-character identifiers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Demo: End-to-End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1. Add orders to orders.csv (BUY/SELL, LIMIT/MARKET)</a:t>
            </a:r>
          </a:p>
          <a:p>
            <a:pPr>
              <a:defRPr sz="1800"/>
            </a:pPr>
            <a:r>
              <a:t>2. Run matching engine with instrumentation agent</a:t>
            </a:r>
          </a:p>
          <a:p>
            <a:pPr>
              <a:defRPr sz="1800"/>
            </a:pPr>
            <a:r>
              <a:t>3. Generate executions.csv with trade results</a:t>
            </a:r>
          </a:p>
          <a:p>
            <a:pPr>
              <a:defRPr sz="1800"/>
            </a:pPr>
            <a:r>
              <a:t>4. Generate instrumentation.log with detailed traces</a:t>
            </a:r>
          </a:p>
          <a:p>
            <a:pPr>
              <a:defRPr sz="1800"/>
            </a:pPr>
            <a:r>
              <a:t>5. Start RAG pipeline: python3 rag_query.py</a:t>
            </a:r>
          </a:p>
          <a:p>
            <a:pPr>
              <a:defRPr sz="1800"/>
            </a:pPr>
            <a:r>
              <a:t>6. Ask questions about execution and implementation</a:t>
            </a:r>
          </a:p>
          <a:p>
            <a:pPr>
              <a:defRPr sz="1800"/>
            </a:pPr>
            <a:r>
              <a:t>7. Get AI-powered answers with code and log context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Example RAG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solidFill>
            <a:srgbClr val="F5F5F5"/>
          </a:solidFill>
        </p:spPr>
        <p:txBody>
          <a:bodyPr wrap="square">
            <a:spAutoFit/>
          </a:bodyPr>
          <a:lstStyle/>
          <a:p>
            <a:pPr>
              <a:defRPr sz="1100">
                <a:latin typeface="Courier New"/>
              </a:defRPr>
            </a:pPr>
            <a:r>
              <a:t>Instrumentation Queries (/instr):</a:t>
            </a:r>
            <a:br/>
            <a:r>
              <a:t>• What orders were added to the order book?</a:t>
            </a:r>
            <a:br/>
            <a:r>
              <a:t>• Show execution reports for order VQ6EAOKbQdSnFkRmVUQAAA</a:t>
            </a:r>
            <a:br/>
            <a:r>
              <a:t>• What was the order book state after the second order?</a:t>
            </a:r>
            <a:br/>
            <a:r>
              <a:t>• Which function UUIDs were called during processing?</a:t>
            </a:r>
            <a:br/>
            <a:br/>
            <a:r>
              <a:t>Code Queries (/code):</a:t>
            </a:r>
            <a:br/>
            <a:r>
              <a:t>• How does OrderBook.addOrder() work?</a:t>
            </a:r>
            <a:br/>
            <a:r>
              <a:t>• What is the ExecutionReport data structure?</a:t>
            </a:r>
            <a:br/>
            <a:r>
              <a:t>• Explain the matchAgainstSide() algorithm</a:t>
            </a:r>
            <a:br/>
            <a:r>
              <a:t>• What annotations are used in the codebase?</a:t>
            </a:r>
            <a:br/>
            <a:br/>
            <a:r>
              <a:t>Combined Queries (/both):</a:t>
            </a:r>
            <a:br/>
            <a:r>
              <a:t>• Why did order X partially fill? (needs both logs + code)</a:t>
            </a:r>
            <a:br/>
            <a:r>
              <a:t>• How does the system handle market orders? (theory + practice)</a:t>
            </a:r>
            <a:br/>
            <a:r>
              <a:t>• Trace the execution path for order Y (logs + function code)</a:t>
            </a:r>
            <a:br/>
            <a:r>
              <a:t>• What is the difference between FULL_FILL and PARTIAL_FILL?</a:t>
            </a:r>
            <a:br/>
            <a:r>
              <a:t>  (code + examples)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&amp; Scalability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Matching Engine: O(log n) order insertion/matching</a:t>
            </a:r>
          </a:p>
          <a:p>
            <a:pPr>
              <a:defRPr sz="1800"/>
            </a:pPr>
            <a:r>
              <a:t>Instrumentation: &lt;5% overhead when enabled, 0% when disabled</a:t>
            </a:r>
          </a:p>
          <a:p>
            <a:pPr>
              <a:defRPr sz="1800"/>
            </a:pPr>
            <a:r>
              <a:t>RAG Indexing: One-time cost, ~2 seconds for sample data</a:t>
            </a:r>
          </a:p>
          <a:p>
            <a:pPr>
              <a:defRPr sz="1800"/>
            </a:pPr>
            <a:r>
              <a:t>RAG Queries: 2-5 seconds depending on complexity</a:t>
            </a:r>
          </a:p>
          <a:p>
            <a:pPr>
              <a:defRPr sz="1800"/>
            </a:pPr>
            <a:r>
              <a:t>Embeddings: Cached locally, minimal API calls</a:t>
            </a:r>
          </a:p>
          <a:p>
            <a:pPr>
              <a:defRPr sz="1800"/>
            </a:pPr>
            <a:r>
              <a:t>LLM Costs: ~$0.01-0.05 per query (Claude Opus pricing)</a:t>
            </a:r>
          </a:p>
          <a:p>
            <a:pPr>
              <a:defRPr sz="1800"/>
            </a:pPr>
            <a:r>
              <a:t>Scalable: Can index thousands of log lines and source files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Enhancements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Real-time streaming of instrumentation events</a:t>
            </a:r>
          </a:p>
          <a:p>
            <a:pPr>
              <a:defRPr sz="1800"/>
            </a:pPr>
            <a:r>
              <a:t>WebSocket-based live RAG queries during execution</a:t>
            </a:r>
          </a:p>
          <a:p>
            <a:pPr>
              <a:defRPr sz="1800"/>
            </a:pPr>
            <a:r>
              <a:t>Visual order book snapshots in RAG responses</a:t>
            </a:r>
          </a:p>
          <a:p>
            <a:pPr>
              <a:defRPr sz="1800"/>
            </a:pPr>
            <a:r>
              <a:t>Multi-symbol support with symbol-specific indices</a:t>
            </a:r>
          </a:p>
          <a:p>
            <a:pPr>
              <a:defRPr sz="1800"/>
            </a:pPr>
            <a:r>
              <a:t>Performance profiling integration (CPU, memory metrics)</a:t>
            </a:r>
          </a:p>
          <a:p>
            <a:pPr>
              <a:defRPr sz="1800"/>
            </a:pPr>
            <a:r>
              <a:t>Automated test generation from execution traces</a:t>
            </a:r>
          </a:p>
          <a:p>
            <a:pPr>
              <a:defRPr sz="1800"/>
            </a:pPr>
            <a:r>
              <a:t>Comparison queries: 'How did order X differ from order Y?'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Comprehensive matching engine with production-ready features</a:t>
            </a:r>
          </a:p>
          <a:p>
            <a:pPr>
              <a:defRPr sz="1800"/>
            </a:pPr>
            <a:r>
              <a:t>Innovative instrumentation approach using annotations + bytecode</a:t>
            </a:r>
          </a:p>
          <a:p>
            <a:pPr>
              <a:defRPr sz="1800"/>
            </a:pPr>
            <a:r>
              <a:t>Powerful RAG pipeline for code and execution analysis</a:t>
            </a:r>
          </a:p>
          <a:p>
            <a:pPr>
              <a:defRPr sz="1800"/>
            </a:pPr>
            <a:r>
              <a:t>AI-powered natural language queries on technical content</a:t>
            </a:r>
          </a:p>
          <a:p>
            <a:pPr>
              <a:defRPr sz="1800"/>
            </a:pPr>
            <a:r>
              <a:t>Open source and ready to extend</a:t>
            </a:r>
          </a:p>
          <a:p>
            <a:pPr>
              <a:defRPr sz="1800"/>
            </a:pPr>
            <a:r>
              <a:t>GitHub: https://github.com/spopa01/matching-engine</a:t>
            </a:r>
          </a:p>
          <a:p>
            <a:pPr>
              <a:defRPr sz="1800"/>
            </a:pPr>
            <a:r>
              <a:t>Demonstrates synergy between traditional systems and modern 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